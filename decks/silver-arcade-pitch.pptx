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8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1097280"/>
            <a:ext cx="9445752" cy="4663440"/>
          </a:xfrm>
          <a:prstGeom prst="roundRect">
            <a:avLst/>
          </a:prstGeom>
          <a:solidFill>
            <a:srgbClr val="FFF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1371600"/>
            <a:ext cx="85039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EF8173"/>
                </a:solidFill>
                <a:latin typeface="Helvetica"/>
              </a:rPr>
              <a:t>2026 SALES PITCH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828800"/>
            <a:ext cx="8503920" cy="11887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7200" b="1">
                <a:solidFill>
                  <a:srgbClr val="0A1530"/>
                </a:solidFill>
                <a:latin typeface="Helvetica"/>
              </a:rPr>
              <a:t>銀齡遊樂園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2926080"/>
            <a:ext cx="850392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00" b="1">
                <a:solidFill>
                  <a:srgbClr val="EF8173"/>
                </a:solidFill>
                <a:latin typeface="Helvetica"/>
              </a:rPr>
              <a:t>Silver-Age Playground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3657600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0A1530"/>
                </a:solidFill>
                <a:latin typeface="Helvetica"/>
              </a:rPr>
              <a:t>一部鏡頭，全院長者動起來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4206240"/>
            <a:ext cx="85039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>
                <a:solidFill>
                  <a:srgbClr val="666666"/>
                </a:solidFill>
                <a:latin typeface="Helvetica"/>
              </a:rPr>
              <a:t>Camera-powered cognitive + motion arcade for HK elderly care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28800" y="5029200"/>
            <a:ext cx="4206240" cy="548640"/>
          </a:xfrm>
          <a:prstGeom prst="roundRect">
            <a:avLst/>
          </a:prstGeom>
          <a:solidFill>
            <a:srgbClr val="0A1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28800" y="5074920"/>
            <a:ext cx="42062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FFD23F"/>
                </a:solidFill>
                <a:latin typeface="Helvetica"/>
              </a:rPr>
              <a:t>ar-game-arcade.vercel.app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F8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EF8173"/>
                </a:solidFill>
                <a:latin typeface="Helvetica"/>
              </a:rPr>
              <a:t>01 · THE MARKET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00" b="1">
                <a:solidFill>
                  <a:srgbClr val="0A1530"/>
                </a:solidFill>
                <a:latin typeface="Helvetica"/>
              </a:rPr>
              <a:t>香港正在快速老化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>
                <a:solidFill>
                  <a:srgbClr val="666666"/>
                </a:solidFill>
                <a:latin typeface="Helvetica"/>
              </a:rPr>
              <a:t>Hong Kong is ageing faster than almost any city on earth.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103120"/>
            <a:ext cx="2697480" cy="3108960"/>
          </a:xfrm>
          <a:prstGeom prst="roundRect">
            <a:avLst/>
          </a:prstGeom>
          <a:solidFill>
            <a:srgbClr val="FFF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468880"/>
            <a:ext cx="2697480" cy="1280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4400" b="1">
                <a:solidFill>
                  <a:srgbClr val="EF8173"/>
                </a:solidFill>
                <a:latin typeface="Helvetica"/>
              </a:rPr>
              <a:t>1 /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749040"/>
            <a:ext cx="269748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0A1530"/>
                </a:solidFill>
                <a:latin typeface="Helvetica"/>
              </a:rPr>
              <a:t>香港人 ≥ 65 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389120"/>
            <a:ext cx="269748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0">
                <a:solidFill>
                  <a:srgbClr val="666666"/>
                </a:solidFill>
                <a:latin typeface="Helvetica"/>
              </a:rPr>
              <a:t>by 2046 (政府統計處)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10712" y="2103120"/>
            <a:ext cx="2697480" cy="3108960"/>
          </a:xfrm>
          <a:prstGeom prst="roundRect">
            <a:avLst/>
          </a:prstGeom>
          <a:solidFill>
            <a:srgbClr val="FFF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10712" y="2468880"/>
            <a:ext cx="2697480" cy="1280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4400" b="1">
                <a:solidFill>
                  <a:srgbClr val="EF8173"/>
                </a:solidFill>
                <a:latin typeface="Helvetica"/>
              </a:rPr>
              <a:t>330,000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10712" y="3749040"/>
            <a:ext cx="269748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0A1530"/>
                </a:solidFill>
                <a:latin typeface="Helvetica"/>
              </a:rPr>
              <a:t>認知障礙症患者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10712" y="4389120"/>
            <a:ext cx="269748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0">
                <a:solidFill>
                  <a:srgbClr val="666666"/>
                </a:solidFill>
                <a:latin typeface="Helvetica"/>
              </a:rPr>
              <a:t>projected 2039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72784" y="2103120"/>
            <a:ext cx="2697480" cy="3108960"/>
          </a:xfrm>
          <a:prstGeom prst="roundRect">
            <a:avLst/>
          </a:prstGeom>
          <a:solidFill>
            <a:srgbClr val="FFF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72784" y="2468880"/>
            <a:ext cx="2697480" cy="1280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4400" b="1">
                <a:solidFill>
                  <a:srgbClr val="EF8173"/>
                </a:solidFill>
                <a:latin typeface="Helvetica"/>
              </a:rPr>
              <a:t>42 mo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72784" y="3749040"/>
            <a:ext cx="269748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0A1530"/>
                </a:solidFill>
                <a:latin typeface="Helvetica"/>
              </a:rPr>
              <a:t>RCHE 院舍輪候期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72784" y="4389120"/>
            <a:ext cx="269748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0">
                <a:solidFill>
                  <a:srgbClr val="666666"/>
                </a:solidFill>
                <a:latin typeface="Helvetica"/>
              </a:rPr>
              <a:t>average wait time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34856" y="2103120"/>
            <a:ext cx="2697480" cy="3108960"/>
          </a:xfrm>
          <a:prstGeom prst="roundRect">
            <a:avLst/>
          </a:prstGeom>
          <a:solidFill>
            <a:srgbClr val="FFF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34856" y="2468880"/>
            <a:ext cx="2697480" cy="1280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4400" b="1">
                <a:solidFill>
                  <a:srgbClr val="EF8173"/>
                </a:solidFill>
                <a:latin typeface="Helvetica"/>
              </a:rPr>
              <a:t>40 %+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34856" y="3749040"/>
            <a:ext cx="269748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0A1530"/>
                </a:solidFill>
                <a:latin typeface="Helvetica"/>
              </a:rPr>
              <a:t>護理員缺口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34856" y="4389120"/>
            <a:ext cx="269748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0">
                <a:solidFill>
                  <a:srgbClr val="666666"/>
                </a:solidFill>
                <a:latin typeface="Helvetica"/>
              </a:rPr>
              <a:t>caregiver shortage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486400"/>
            <a:ext cx="109728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0A1530"/>
                </a:solidFill>
                <a:latin typeface="Helvetica"/>
              </a:rPr>
              <a:t>院舍急需可規模化、可量度、可申資助的日常活動方案。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F8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6647688"/>
            <a:ext cx="731520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Helvetica"/>
              </a:rPr>
              <a:t>銀齡遊樂園 · Silver-Age Playground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0" y="6647688"/>
            <a:ext cx="137160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Helvetica"/>
              </a:rPr>
              <a:t>2 /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F8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EF8173"/>
                </a:solidFill>
                <a:latin typeface="Helvetica"/>
              </a:rPr>
              <a:t>02 · THE GAP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00" b="1">
                <a:solidFill>
                  <a:srgbClr val="0A1530"/>
                </a:solidFill>
                <a:latin typeface="Helvetica"/>
              </a:rPr>
              <a:t>現有方案的痛點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>
                <a:solidFill>
                  <a:srgbClr val="666666"/>
                </a:solidFill>
                <a:latin typeface="Helvetica"/>
              </a:rPr>
              <a:t>Nothing on the market combines motion + cognition + group + data.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2011680"/>
          <a:ext cx="1106424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10100"/>
                <a:gridCol w="6454140"/>
              </a:tblGrid>
              <a:tr h="670560">
                <a:tc>
                  <a:txBody>
                    <a:bodyPr wrap="square" anchor="ctr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Helvetica"/>
                        </a:rPr>
                        <a:t>現有方案 Solution</a:t>
                      </a:r>
                    </a:p>
                  </a:txBody>
                  <a:tcPr marL="73152" marR="73152" marT="45720" marB="45720">
                    <a:solidFill>
                      <a:srgbClr val="0A1530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Helvetica"/>
                        </a:rPr>
                        <a:t>主要問題 Pain</a:t>
                      </a:r>
                    </a:p>
                  </a:txBody>
                  <a:tcPr marL="73152" marR="73152" marT="45720" marB="45720">
                    <a:solidFill>
                      <a:srgbClr val="0A1530"/>
                    </a:solidFill>
                  </a:tcPr>
                </a:tc>
              </a:tr>
              <a:tr h="670560">
                <a:tc>
                  <a:txBody>
                    <a:bodyPr wrap="square" anchor="ctr"/>
                    <a:lstStyle/>
                    <a:p>
                      <a:r>
                        <a:rPr sz="1500" b="1">
                          <a:solidFill>
                            <a:srgbClr val="0A1530"/>
                          </a:solidFill>
                          <a:latin typeface="Helvetica"/>
                        </a:rPr>
                        <a:t>紙本工作紙 / Bingo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500">
                          <a:solidFill>
                            <a:srgbClr val="0A1530"/>
                          </a:solidFill>
                          <a:latin typeface="Helvetica"/>
                        </a:rPr>
                        <a:t>重覆、悶、無數據追蹤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 wrap="square" anchor="ctr"/>
                    <a:lstStyle/>
                    <a:p>
                      <a:r>
                        <a:rPr sz="1500" b="1">
                          <a:solidFill>
                            <a:srgbClr val="0A1530"/>
                          </a:solidFill>
                          <a:latin typeface="Helvetica"/>
                        </a:rPr>
                        <a:t>YouTube 椅子操影片</a:t>
                      </a:r>
                    </a:p>
                  </a:txBody>
                  <a:tcPr marL="73152" marR="73152" marT="45720" marB="45720">
                    <a:solidFill>
                      <a:srgbClr val="EEEEEE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500">
                          <a:solidFill>
                            <a:srgbClr val="0A1530"/>
                          </a:solidFill>
                          <a:latin typeface="Helvetica"/>
                        </a:rPr>
                        <a:t>無互動、無報告、無 accountability</a:t>
                      </a:r>
                    </a:p>
                  </a:txBody>
                  <a:tcPr marL="73152" marR="73152" marT="45720" marB="45720">
                    <a:solidFill>
                      <a:srgbClr val="EEEEEE"/>
                    </a:solidFill>
                  </a:tcPr>
                </a:tc>
              </a:tr>
              <a:tr h="670560">
                <a:tc>
                  <a:txBody>
                    <a:bodyPr wrap="square" anchor="ctr"/>
                    <a:lstStyle/>
                    <a:p>
                      <a:r>
                        <a:rPr sz="1500" b="1">
                          <a:solidFill>
                            <a:srgbClr val="0A1530"/>
                          </a:solidFill>
                          <a:latin typeface="Helvetica"/>
                        </a:rPr>
                        <a:t>NeuroGym 智能麻雀枱 (HKSTP)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500">
                          <a:solidFill>
                            <a:srgbClr val="0A1530"/>
                          </a:solidFill>
                          <a:latin typeface="Helvetica"/>
                        </a:rPr>
                        <a:t>HK$80K+ 硬件，淨係動手指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 wrap="square" anchor="ctr"/>
                    <a:lstStyle/>
                    <a:p>
                      <a:r>
                        <a:rPr sz="1500" b="1">
                          <a:solidFill>
                            <a:srgbClr val="0A1530"/>
                          </a:solidFill>
                          <a:latin typeface="Helvetica"/>
                        </a:rPr>
                        <a:t>Motiview 單車 (Norway)</a:t>
                      </a:r>
                    </a:p>
                  </a:txBody>
                  <a:tcPr marL="73152" marR="73152" marT="45720" marB="45720">
                    <a:solidFill>
                      <a:srgbClr val="EEEEEE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500">
                          <a:solidFill>
                            <a:srgbClr val="0A1530"/>
                          </a:solidFill>
                          <a:latin typeface="Helvetica"/>
                        </a:rPr>
                        <a:t>單一動作，要買 stationary bike</a:t>
                      </a:r>
                    </a:p>
                  </a:txBody>
                  <a:tcPr marL="73152" marR="73152" marT="45720" marB="45720">
                    <a:solidFill>
                      <a:srgbClr val="EEEEEE"/>
                    </a:solidFill>
                  </a:tcPr>
                </a:tc>
              </a:tr>
              <a:tr h="670560">
                <a:tc>
                  <a:txBody>
                    <a:bodyPr wrap="square" anchor="ctr"/>
                    <a:lstStyle/>
                    <a:p>
                      <a:r>
                        <a:rPr sz="1500" b="1">
                          <a:solidFill>
                            <a:srgbClr val="0A1530"/>
                          </a:solidFill>
                          <a:latin typeface="Helvetica"/>
                        </a:rPr>
                        <a:t>VR 頭盔 (Rendever / MyndVR)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500">
                          <a:solidFill>
                            <a:srgbClr val="0A1530"/>
                          </a:solidFill>
                          <a:latin typeface="Helvetica"/>
                        </a:rPr>
                        <a:t>長者抗拒戴、易眩暈、HK$200K+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F8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647688"/>
            <a:ext cx="731520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Helvetica"/>
              </a:rPr>
              <a:t>銀齡遊樂園 · Silver-Age Playground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647688"/>
            <a:ext cx="137160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Helvetica"/>
              </a:rPr>
              <a:t>3 /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F8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EF8173"/>
                </a:solidFill>
                <a:latin typeface="Helvetica"/>
              </a:rPr>
              <a:t>03 · OUR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00" b="1">
                <a:solidFill>
                  <a:srgbClr val="0A1530"/>
                </a:solidFill>
                <a:latin typeface="Helvetica"/>
              </a:rPr>
              <a:t>銀齡遊樂園 — 一部筆電 + 一個 USB 鏡頭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>
                <a:solidFill>
                  <a:srgbClr val="666666"/>
                </a:solidFill>
                <a:latin typeface="Helvetica"/>
              </a:rPr>
              <a:t>= 整個動感認知遊樂園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103120"/>
            <a:ext cx="5532120" cy="1325880"/>
          </a:xfrm>
          <a:prstGeom prst="roundRect">
            <a:avLst/>
          </a:prstGeom>
          <a:solidFill>
            <a:srgbClr val="FFF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2331720"/>
            <a:ext cx="777240" cy="777240"/>
          </a:xfrm>
          <a:prstGeom prst="ellipse">
            <a:avLst/>
          </a:prstGeom>
          <a:solidFill>
            <a:srgbClr val="EF8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331720"/>
            <a:ext cx="77724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Helvetica"/>
              </a:rPr>
              <a:t>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286000"/>
            <a:ext cx="43434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EF8173"/>
                </a:solidFill>
                <a:latin typeface="Helvetica"/>
              </a:rPr>
              <a:t>AI 體感偵測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2743200"/>
            <a:ext cx="43434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0A1530"/>
                </a:solidFill>
                <a:latin typeface="Helvetica"/>
              </a:rPr>
              <a:t>MediaPipe pose engine — 全身動作，毋須控制器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2103120"/>
            <a:ext cx="5532120" cy="1325880"/>
          </a:xfrm>
          <a:prstGeom prst="roundRect">
            <a:avLst/>
          </a:prstGeom>
          <a:solidFill>
            <a:srgbClr val="FFF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2331720"/>
            <a:ext cx="777240" cy="777240"/>
          </a:xfrm>
          <a:prstGeom prst="ellipse">
            <a:avLst/>
          </a:prstGeom>
          <a:solidFill>
            <a:srgbClr val="EF8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2331720"/>
            <a:ext cx="77724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Helvetica"/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60920" y="2286000"/>
            <a:ext cx="43434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EF8173"/>
                </a:solidFill>
                <a:latin typeface="Helvetica"/>
              </a:rPr>
              <a:t>6 大認知範疇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60920" y="2743200"/>
            <a:ext cx="43434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0A1530"/>
                </a:solidFill>
                <a:latin typeface="Helvetica"/>
              </a:rPr>
              <a:t>專注、記憶、執行、語言、視覺空間、眼手協調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611880"/>
            <a:ext cx="5532120" cy="1325880"/>
          </a:xfrm>
          <a:prstGeom prst="roundRect">
            <a:avLst/>
          </a:prstGeom>
          <a:solidFill>
            <a:srgbClr val="FFF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31520" y="3840480"/>
            <a:ext cx="777240" cy="777240"/>
          </a:xfrm>
          <a:prstGeom prst="ellipse">
            <a:avLst/>
          </a:prstGeom>
          <a:solidFill>
            <a:srgbClr val="EF8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840480"/>
            <a:ext cx="77724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Helvetica"/>
              </a:rPr>
              <a:t>1-4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3794760"/>
            <a:ext cx="43434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EF8173"/>
                </a:solidFill>
                <a:latin typeface="Helvetica"/>
              </a:rPr>
              <a:t>1–4 人同屏對戰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4251960"/>
            <a:ext cx="43434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0A1530"/>
                </a:solidFill>
                <a:latin typeface="Helvetica"/>
              </a:rPr>
              <a:t>院友一齊玩，唔再孤獨訓練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3611880"/>
            <a:ext cx="5532120" cy="1325880"/>
          </a:xfrm>
          <a:prstGeom prst="roundRect">
            <a:avLst/>
          </a:prstGeom>
          <a:solidFill>
            <a:srgbClr val="FFF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46520" y="3840480"/>
            <a:ext cx="777240" cy="777240"/>
          </a:xfrm>
          <a:prstGeom prst="ellipse">
            <a:avLst/>
          </a:prstGeom>
          <a:solidFill>
            <a:srgbClr val="EF8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3840480"/>
            <a:ext cx="77724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Helvetica"/>
              </a:rPr>
              <a:t>PDF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60920" y="3794760"/>
            <a:ext cx="43434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EF8173"/>
                </a:solidFill>
                <a:latin typeface="Helvetica"/>
              </a:rPr>
              <a:t>自動報告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60920" y="4251960"/>
            <a:ext cx="43434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0A1530"/>
                </a:solidFill>
                <a:latin typeface="Helvetica"/>
              </a:rPr>
              <a:t>個人 / 院舍 / 跨院舍 dashboard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5120640"/>
            <a:ext cx="5532120" cy="1325880"/>
          </a:xfrm>
          <a:prstGeom prst="roundRect">
            <a:avLst/>
          </a:prstGeom>
          <a:solidFill>
            <a:srgbClr val="FFF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31520" y="5349240"/>
            <a:ext cx="777240" cy="777240"/>
          </a:xfrm>
          <a:prstGeom prst="ellipse">
            <a:avLst/>
          </a:prstGeom>
          <a:solidFill>
            <a:srgbClr val="EF8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5349240"/>
            <a:ext cx="77724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Helvetica"/>
              </a:rPr>
              <a:t>$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45920" y="5303520"/>
            <a:ext cx="43434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EF8173"/>
                </a:solidFill>
                <a:latin typeface="Helvetica"/>
              </a:rPr>
              <a:t>可申樂齡基金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45920" y="5760720"/>
            <a:ext cx="43434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0A1530"/>
                </a:solidFill>
                <a:latin typeface="Helvetica"/>
              </a:rPr>
              <a:t>BLSAA / I&amp;T Fund — 我哋代你寫申請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63640" y="5120640"/>
            <a:ext cx="5532120" cy="1325880"/>
          </a:xfrm>
          <a:prstGeom prst="roundRect">
            <a:avLst/>
          </a:prstGeom>
          <a:solidFill>
            <a:srgbClr val="FFF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46520" y="5349240"/>
            <a:ext cx="777240" cy="777240"/>
          </a:xfrm>
          <a:prstGeom prst="ellipse">
            <a:avLst/>
          </a:prstGeom>
          <a:solidFill>
            <a:srgbClr val="EF8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46520" y="5349240"/>
            <a:ext cx="77724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Helvetica"/>
              </a:rPr>
              <a:t>5K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60920" y="5303520"/>
            <a:ext cx="43434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EF8173"/>
                </a:solidFill>
                <a:latin typeface="Helvetica"/>
              </a:rPr>
              <a:t>硬件門檻零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60920" y="5760720"/>
            <a:ext cx="43434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0A1530"/>
                </a:solidFill>
                <a:latin typeface="Helvetica"/>
              </a:rPr>
              <a:t>一部 PC + USB 鏡頭就玩到，~HK$5K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F8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5760" y="6647688"/>
            <a:ext cx="731520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Helvetica"/>
              </a:rPr>
              <a:t>銀齡遊樂園 · Silver-Age Playground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0" y="6647688"/>
            <a:ext cx="137160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Helvetica"/>
              </a:rPr>
              <a:t>4 /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F8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EF8173"/>
                </a:solidFill>
                <a:latin typeface="Helvetica"/>
              </a:rPr>
              <a:t>04 · CLINICAL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00" b="1">
                <a:solidFill>
                  <a:srgbClr val="0A1530"/>
                </a:solidFill>
                <a:latin typeface="Helvetica"/>
              </a:rPr>
              <a:t>6 大臨床範疇 — 每款遊戲都對位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>
                <a:solidFill>
                  <a:srgbClr val="666666"/>
                </a:solidFill>
                <a:latin typeface="Helvetica"/>
              </a:rPr>
              <a:t>Every game maps to one or more validated assessment domains.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874519"/>
            <a:ext cx="3749039" cy="1417320"/>
          </a:xfrm>
          <a:prstGeom prst="roundRect">
            <a:avLst/>
          </a:prstGeom>
          <a:solidFill>
            <a:srgbClr val="FFF8E8"/>
          </a:solidFill>
          <a:ln w="19050">
            <a:solidFill>
              <a:srgbClr val="EF81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30352" y="2075687"/>
            <a:ext cx="777240" cy="777240"/>
          </a:xfrm>
          <a:prstGeom prst="ellipse">
            <a:avLst/>
          </a:prstGeom>
          <a:solidFill>
            <a:srgbClr val="EF8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2075687"/>
            <a:ext cx="77724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Helvetica"/>
              </a:rPr>
              <a:t>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039111"/>
            <a:ext cx="2606039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EF8173"/>
                </a:solidFill>
                <a:latin typeface="Helvetica"/>
              </a:rPr>
              <a:t>Physical / Motor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2377439"/>
            <a:ext cx="2606039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666666"/>
                </a:solidFill>
                <a:latin typeface="Helvetica"/>
              </a:rPr>
              <a:t>體能 · 動作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2834639"/>
            <a:ext cx="3456431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0A1530"/>
                </a:solidFill>
                <a:latin typeface="Helvetica"/>
              </a:rPr>
              <a:t>Cadence, ROM, endurance — march, paddle, gallop, lift.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79391" y="1874519"/>
            <a:ext cx="3749039" cy="1417320"/>
          </a:xfrm>
          <a:prstGeom prst="roundRect">
            <a:avLst/>
          </a:prstGeom>
          <a:solidFill>
            <a:srgbClr val="FFF8E8"/>
          </a:solidFill>
          <a:ln w="19050">
            <a:solidFill>
              <a:srgbClr val="EF81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443983" y="2075687"/>
            <a:ext cx="777240" cy="777240"/>
          </a:xfrm>
          <a:prstGeom prst="ellipse">
            <a:avLst/>
          </a:prstGeom>
          <a:solidFill>
            <a:srgbClr val="EF8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43983" y="2075687"/>
            <a:ext cx="77724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Helvetica"/>
              </a:rPr>
              <a:t>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30951" y="2039111"/>
            <a:ext cx="2606039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EF8173"/>
                </a:solidFill>
                <a:latin typeface="Helvetica"/>
              </a:rPr>
              <a:t>Cognitive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30951" y="2377439"/>
            <a:ext cx="2606039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666666"/>
                </a:solidFill>
                <a:latin typeface="Helvetica"/>
              </a:rPr>
              <a:t>認知 · 反應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43983" y="2834639"/>
            <a:ext cx="3456431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0A1530"/>
                </a:solidFill>
                <a:latin typeface="Helvetica"/>
              </a:rPr>
              <a:t>Attention, memory, executive function — sort, recall, count.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93022" y="1874519"/>
            <a:ext cx="3749039" cy="1417320"/>
          </a:xfrm>
          <a:prstGeom prst="roundRect">
            <a:avLst/>
          </a:prstGeom>
          <a:solidFill>
            <a:srgbClr val="FFF8E8"/>
          </a:solidFill>
          <a:ln w="19050">
            <a:solidFill>
              <a:srgbClr val="EF81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357614" y="2075687"/>
            <a:ext cx="777240" cy="777240"/>
          </a:xfrm>
          <a:prstGeom prst="ellipse">
            <a:avLst/>
          </a:prstGeom>
          <a:solidFill>
            <a:srgbClr val="EF8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57614" y="2075687"/>
            <a:ext cx="77724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Helvetica"/>
              </a:rPr>
              <a:t>👁️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44582" y="2039111"/>
            <a:ext cx="2606039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EF8173"/>
                </a:solidFill>
                <a:latin typeface="Helvetica"/>
              </a:rPr>
              <a:t>Hand–Eye Coordination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44582" y="2377439"/>
            <a:ext cx="2606039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666666"/>
                </a:solidFill>
                <a:latin typeface="Helvetica"/>
              </a:rPr>
              <a:t>眼手協調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57614" y="2834639"/>
            <a:ext cx="3456431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0A1530"/>
                </a:solidFill>
                <a:latin typeface="Helvetica"/>
              </a:rPr>
              <a:t>Tracking + timing — fruit ninja, balloon pop, catch.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" y="3456431"/>
            <a:ext cx="3749039" cy="1417320"/>
          </a:xfrm>
          <a:prstGeom prst="roundRect">
            <a:avLst/>
          </a:prstGeom>
          <a:solidFill>
            <a:srgbClr val="FFF8E8"/>
          </a:solidFill>
          <a:ln w="19050">
            <a:solidFill>
              <a:srgbClr val="EF81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30352" y="3657599"/>
            <a:ext cx="777240" cy="777240"/>
          </a:xfrm>
          <a:prstGeom prst="ellipse">
            <a:avLst/>
          </a:prstGeom>
          <a:solidFill>
            <a:srgbClr val="EF8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0352" y="3657599"/>
            <a:ext cx="77724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Helvetica"/>
              </a:rPr>
              <a:t>🧭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17320" y="3621023"/>
            <a:ext cx="2606039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EF8173"/>
                </a:solidFill>
                <a:latin typeface="Helvetica"/>
              </a:rPr>
              <a:t>Visual–Spatial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17320" y="3959351"/>
            <a:ext cx="2606039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666666"/>
                </a:solidFill>
                <a:latin typeface="Helvetica"/>
              </a:rPr>
              <a:t>視覺空間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0352" y="4416551"/>
            <a:ext cx="3456431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0A1530"/>
                </a:solidFill>
                <a:latin typeface="Helvetica"/>
              </a:rPr>
              <a:t>Depth, direction, mental rotation — steer, aim, navigate.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79391" y="3456431"/>
            <a:ext cx="3749039" cy="1417320"/>
          </a:xfrm>
          <a:prstGeom prst="roundRect">
            <a:avLst/>
          </a:prstGeom>
          <a:solidFill>
            <a:srgbClr val="FFF8E8"/>
          </a:solidFill>
          <a:ln w="19050">
            <a:solidFill>
              <a:srgbClr val="EF81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443983" y="3657599"/>
            <a:ext cx="777240" cy="777240"/>
          </a:xfrm>
          <a:prstGeom prst="ellipse">
            <a:avLst/>
          </a:prstGeom>
          <a:solidFill>
            <a:srgbClr val="EF8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43983" y="3657599"/>
            <a:ext cx="77724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Helvetica"/>
              </a:rPr>
              <a:t>🧩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30951" y="3621023"/>
            <a:ext cx="2606039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EF8173"/>
                </a:solidFill>
                <a:latin typeface="Helvetica"/>
              </a:rPr>
              <a:t>Dual-Task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30951" y="3959351"/>
            <a:ext cx="2606039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666666"/>
                </a:solidFill>
                <a:latin typeface="Helvetica"/>
              </a:rPr>
              <a:t>雙重任務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43983" y="4416551"/>
            <a:ext cx="3456431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0A1530"/>
                </a:solidFill>
                <a:latin typeface="Helvetica"/>
              </a:rPr>
              <a:t>Cognitive + motor at once — march while solving math.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193022" y="3456431"/>
            <a:ext cx="3749039" cy="1417320"/>
          </a:xfrm>
          <a:prstGeom prst="roundRect">
            <a:avLst/>
          </a:prstGeom>
          <a:solidFill>
            <a:srgbClr val="FFF8E8"/>
          </a:solidFill>
          <a:ln w="19050">
            <a:solidFill>
              <a:srgbClr val="EF81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357614" y="3657599"/>
            <a:ext cx="777240" cy="777240"/>
          </a:xfrm>
          <a:prstGeom prst="ellipse">
            <a:avLst/>
          </a:prstGeom>
          <a:solidFill>
            <a:srgbClr val="EF8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57614" y="3657599"/>
            <a:ext cx="77724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Helvetica"/>
              </a:rPr>
              <a:t>⚖️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44582" y="3621023"/>
            <a:ext cx="2606039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EF8173"/>
                </a:solidFill>
                <a:latin typeface="Helvetica"/>
              </a:rPr>
              <a:t>Fall Risk / Balance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44582" y="3959351"/>
            <a:ext cx="2606039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666666"/>
                </a:solidFill>
                <a:latin typeface="Helvetica"/>
              </a:rPr>
              <a:t>跌倒風險 · 平衡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57614" y="4416551"/>
            <a:ext cx="3456431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0A1530"/>
                </a:solidFill>
                <a:latin typeface="Helvetica"/>
              </a:rPr>
              <a:t>Single-leg, weight-shift, sway — Berg-style on-screen tests.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5760" y="5029200"/>
            <a:ext cx="11430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EF8173"/>
                </a:solidFill>
                <a:latin typeface="Helvetica"/>
              </a:rPr>
              <a:t>Every report covers all 6 domains · pre/post comparison · BLSAA-ready KPIs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F8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5760" y="6647688"/>
            <a:ext cx="731520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Helvetica"/>
              </a:rPr>
              <a:t>銀齡遊樂園 · Silver-Age Playground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515600" y="6647688"/>
            <a:ext cx="137160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Helvetica"/>
              </a:rPr>
              <a:t>5 /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F8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EF8173"/>
                </a:solidFill>
                <a:latin typeface="Helvetica"/>
              </a:rPr>
              <a:t>04 · PRODUCT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00" b="1">
                <a:solidFill>
                  <a:srgbClr val="0A1530"/>
                </a:solidFill>
                <a:latin typeface="Helvetica"/>
              </a:rPr>
              <a:t>8 款已上線，每月新增 2 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>
                <a:solidFill>
                  <a:srgbClr val="666666"/>
                </a:solidFill>
                <a:latin typeface="Helvetica"/>
              </a:rPr>
              <a:t>Target: 30+ games within 12 months.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057400"/>
            <a:ext cx="2697480" cy="1417320"/>
          </a:xfrm>
          <a:prstGeom prst="roundRect">
            <a:avLst/>
          </a:prstGeom>
          <a:solidFill>
            <a:srgbClr val="FFF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2240280"/>
            <a:ext cx="457200" cy="457200"/>
          </a:xfrm>
          <a:prstGeom prst="ellipse">
            <a:avLst/>
          </a:prstGeom>
          <a:solidFill>
            <a:srgbClr val="EF8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240280"/>
            <a:ext cx="4572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Helvetic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286000"/>
            <a:ext cx="17830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A1530"/>
                </a:solidFill>
                <a:latin typeface="Helvetica"/>
              </a:rPr>
              <a:t>顏色分類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834640"/>
            <a:ext cx="23317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EF8173"/>
                </a:solidFill>
                <a:latin typeface="Helvetica"/>
              </a:rPr>
              <a:t>Color Baskets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136392"/>
            <a:ext cx="2331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Helvetica"/>
              </a:rPr>
              <a:t>執行 + 反應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10712" y="2057400"/>
            <a:ext cx="2697480" cy="1417320"/>
          </a:xfrm>
          <a:prstGeom prst="roundRect">
            <a:avLst/>
          </a:prstGeom>
          <a:solidFill>
            <a:srgbClr val="FFF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93592" y="2240280"/>
            <a:ext cx="457200" cy="457200"/>
          </a:xfrm>
          <a:prstGeom prst="ellipse">
            <a:avLst/>
          </a:prstGeom>
          <a:solidFill>
            <a:srgbClr val="EF8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93592" y="2240280"/>
            <a:ext cx="4572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Helvetica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87952" y="2286000"/>
            <a:ext cx="17830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A1530"/>
                </a:solidFill>
                <a:latin typeface="Helvetica"/>
              </a:rPr>
              <a:t>水果接力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93592" y="2834640"/>
            <a:ext cx="23317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EF8173"/>
                </a:solidFill>
                <a:latin typeface="Helvetica"/>
              </a:rPr>
              <a:t>Fruit Catch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93592" y="3136392"/>
            <a:ext cx="2331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Helvetica"/>
              </a:rPr>
              <a:t>眼手協調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72784" y="2057400"/>
            <a:ext cx="2697480" cy="1417320"/>
          </a:xfrm>
          <a:prstGeom prst="roundRect">
            <a:avLst/>
          </a:prstGeom>
          <a:solidFill>
            <a:srgbClr val="FFF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55664" y="2240280"/>
            <a:ext cx="457200" cy="457200"/>
          </a:xfrm>
          <a:prstGeom prst="ellipse">
            <a:avLst/>
          </a:prstGeom>
          <a:solidFill>
            <a:srgbClr val="EF8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55664" y="2240280"/>
            <a:ext cx="4572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Helvetica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50024" y="2286000"/>
            <a:ext cx="17830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A1530"/>
                </a:solidFill>
                <a:latin typeface="Helvetica"/>
              </a:rPr>
              <a:t>水果忍者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2834640"/>
            <a:ext cx="23317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EF8173"/>
                </a:solidFill>
                <a:latin typeface="Helvetica"/>
              </a:rPr>
              <a:t>Fruit Ninja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3136392"/>
            <a:ext cx="2331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Helvetica"/>
              </a:rPr>
              <a:t>視覺空間 + 力度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34856" y="2057400"/>
            <a:ext cx="2697480" cy="1417320"/>
          </a:xfrm>
          <a:prstGeom prst="roundRect">
            <a:avLst/>
          </a:prstGeom>
          <a:solidFill>
            <a:srgbClr val="FFF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317736" y="2240280"/>
            <a:ext cx="457200" cy="457200"/>
          </a:xfrm>
          <a:prstGeom prst="ellipse">
            <a:avLst/>
          </a:prstGeom>
          <a:solidFill>
            <a:srgbClr val="EF8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17736" y="2240280"/>
            <a:ext cx="4572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Helvetica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12096" y="2286000"/>
            <a:ext cx="17830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A1530"/>
                </a:solidFill>
                <a:latin typeface="Helvetica"/>
              </a:rPr>
              <a:t>氣球轟炸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17736" y="2834640"/>
            <a:ext cx="23317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EF8173"/>
                </a:solidFill>
                <a:latin typeface="Helvetica"/>
              </a:rPr>
              <a:t>Balloon Pop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17736" y="3136392"/>
            <a:ext cx="2331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Helvetica"/>
              </a:rPr>
              <a:t>專注 + 預測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3639312"/>
            <a:ext cx="2697480" cy="1417320"/>
          </a:xfrm>
          <a:prstGeom prst="roundRect">
            <a:avLst/>
          </a:prstGeom>
          <a:solidFill>
            <a:srgbClr val="FFF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31520" y="3822192"/>
            <a:ext cx="457200" cy="457200"/>
          </a:xfrm>
          <a:prstGeom prst="ellipse">
            <a:avLst/>
          </a:prstGeom>
          <a:solidFill>
            <a:srgbClr val="EF8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3822192"/>
            <a:ext cx="4572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Helvetica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25880" y="3867912"/>
            <a:ext cx="17830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A1530"/>
                </a:solidFill>
                <a:latin typeface="Helvetica"/>
              </a:rPr>
              <a:t>賽馬比賽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4416552"/>
            <a:ext cx="23317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EF8173"/>
                </a:solidFill>
                <a:latin typeface="Helvetica"/>
              </a:rPr>
              <a:t>Horse Race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4718304"/>
            <a:ext cx="2331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Helvetica"/>
              </a:rPr>
              <a:t>體能耐力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410712" y="3639312"/>
            <a:ext cx="2697480" cy="1417320"/>
          </a:xfrm>
          <a:prstGeom prst="roundRect">
            <a:avLst/>
          </a:prstGeom>
          <a:solidFill>
            <a:srgbClr val="FFF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3593592" y="3822192"/>
            <a:ext cx="457200" cy="457200"/>
          </a:xfrm>
          <a:prstGeom prst="ellipse">
            <a:avLst/>
          </a:prstGeom>
          <a:solidFill>
            <a:srgbClr val="EF8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593592" y="3822192"/>
            <a:ext cx="4572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Helvetica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87952" y="3867912"/>
            <a:ext cx="17830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A1530"/>
                </a:solidFill>
                <a:latin typeface="Helvetica"/>
              </a:rPr>
              <a:t>龍舟賽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93592" y="4416552"/>
            <a:ext cx="23317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EF8173"/>
                </a:solidFill>
                <a:latin typeface="Helvetica"/>
              </a:rPr>
              <a:t>Dragon Boat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93592" y="4718304"/>
            <a:ext cx="2331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Helvetica"/>
              </a:rPr>
              <a:t>上身協調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272784" y="3639312"/>
            <a:ext cx="2697480" cy="1417320"/>
          </a:xfrm>
          <a:prstGeom prst="roundRect">
            <a:avLst/>
          </a:prstGeom>
          <a:solidFill>
            <a:srgbClr val="FFF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455664" y="3822192"/>
            <a:ext cx="457200" cy="457200"/>
          </a:xfrm>
          <a:prstGeom prst="ellipse">
            <a:avLst/>
          </a:prstGeom>
          <a:solidFill>
            <a:srgbClr val="EF8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55664" y="3822192"/>
            <a:ext cx="4572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Helvetica"/>
              </a:rPr>
              <a:t>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50024" y="3867912"/>
            <a:ext cx="17830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A1530"/>
                </a:solidFill>
                <a:latin typeface="Helvetica"/>
              </a:rPr>
              <a:t>數字衝刺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55664" y="4416552"/>
            <a:ext cx="23317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EF8173"/>
                </a:solidFill>
                <a:latin typeface="Helvetica"/>
              </a:rPr>
              <a:t>Number Rush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55664" y="4718304"/>
            <a:ext cx="2331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Helvetica"/>
              </a:rPr>
              <a:t>算術 + 記憶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134856" y="3639312"/>
            <a:ext cx="2697480" cy="1417320"/>
          </a:xfrm>
          <a:prstGeom prst="roundRect">
            <a:avLst/>
          </a:prstGeom>
          <a:solidFill>
            <a:srgbClr val="FFF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9317736" y="3822192"/>
            <a:ext cx="457200" cy="457200"/>
          </a:xfrm>
          <a:prstGeom prst="ellipse">
            <a:avLst/>
          </a:prstGeom>
          <a:solidFill>
            <a:srgbClr val="EF8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317736" y="3822192"/>
            <a:ext cx="4572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Helvetica"/>
              </a:rPr>
              <a:t>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12096" y="3867912"/>
            <a:ext cx="17830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A1530"/>
                </a:solidFill>
                <a:latin typeface="Helvetica"/>
              </a:rPr>
              <a:t>教練跟練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317736" y="4416552"/>
            <a:ext cx="23317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EF8173"/>
                </a:solidFill>
                <a:latin typeface="Helvetica"/>
              </a:rPr>
              <a:t>Coach Follow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317736" y="4718304"/>
            <a:ext cx="2331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Helvetica"/>
              </a:rPr>
              <a:t>姿態模仿 (八段錦)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48640" y="548640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EF8173"/>
                </a:solidFill>
                <a:latin typeface="Helvetica"/>
              </a:rPr>
              <a:t>Roadmap: +2 games / month  →  30+ titles by EOY 2027</a:t>
            </a:r>
          </a:p>
        </p:txBody>
      </p:sp>
      <p:sp>
        <p:nvSpPr>
          <p:cNvPr id="56" name="Rectangle 5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F8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65760" y="6647688"/>
            <a:ext cx="731520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Helvetica"/>
              </a:rPr>
              <a:t>銀齡遊樂園 · Silver-Age Playground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515600" y="6647688"/>
            <a:ext cx="137160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Helvetica"/>
              </a:rPr>
              <a:t>6 /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F8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EF8173"/>
                </a:solidFill>
                <a:latin typeface="Helvetica"/>
              </a:rPr>
              <a:t>05 · COMPETITIVE LANDSCAPE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00" b="1">
                <a:solidFill>
                  <a:srgbClr val="0A1530"/>
                </a:solidFill>
                <a:latin typeface="Helvetica"/>
              </a:rPr>
              <a:t>我哋 vs NeuroGym vs Motiview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2011680"/>
          <a:ext cx="11064238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5269"/>
                <a:gridCol w="2886323"/>
                <a:gridCol w="2886323"/>
                <a:gridCol w="2886323"/>
              </a:tblGrid>
              <a:tr h="390698"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/>
                      </a:r>
                    </a:p>
                  </a:txBody>
                  <a:tcPr marL="73152" marR="73152" marT="45720" marB="45720">
                    <a:solidFill>
                      <a:srgbClr val="0A1530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NeuroGym (HKSTP)</a:t>
                      </a:r>
                    </a:p>
                  </a:txBody>
                  <a:tcPr marL="73152" marR="73152" marT="45720" marB="45720">
                    <a:solidFill>
                      <a:srgbClr val="0A1530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Motiview (Norway)</a:t>
                      </a:r>
                    </a:p>
                  </a:txBody>
                  <a:tcPr marL="73152" marR="73152" marT="45720" marB="45720">
                    <a:solidFill>
                      <a:srgbClr val="0A1530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銀齡遊樂園</a:t>
                      </a:r>
                    </a:p>
                  </a:txBody>
                  <a:tcPr marL="73152" marR="73152" marT="45720" marB="45720">
                    <a:solidFill>
                      <a:srgbClr val="0A1530"/>
                    </a:solidFill>
                  </a:tcPr>
                </a:tc>
              </a:tr>
              <a:tr h="390698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0A1530"/>
                          </a:solidFill>
                          <a:latin typeface="Helvetica"/>
                        </a:rPr>
                        <a:t>遊戲數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>
                          <a:solidFill>
                            <a:srgbClr val="0A1530"/>
                          </a:solidFill>
                          <a:latin typeface="Helvetica"/>
                        </a:rPr>
                        <a:t>70+ 認知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>
                          <a:solidFill>
                            <a:srgbClr val="0A1530"/>
                          </a:solidFill>
                          <a:latin typeface="Helvetica"/>
                        </a:rPr>
                        <a:t>1,800 影片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>
                          <a:solidFill>
                            <a:srgbClr val="0A1530"/>
                          </a:solidFill>
                          <a:latin typeface="Helvetica"/>
                        </a:rPr>
                        <a:t>8 → 30+</a:t>
                      </a:r>
                    </a:p>
                  </a:txBody>
                  <a:tcPr marL="73152" marR="73152" marT="45720" marB="45720">
                    <a:solidFill>
                      <a:srgbClr val="FFF8E8"/>
                    </a:solidFill>
                  </a:tcPr>
                </a:tc>
              </a:tr>
              <a:tr h="390698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0A1530"/>
                          </a:solidFill>
                          <a:latin typeface="Helvetica"/>
                        </a:rPr>
                        <a:t>輸入方式</a:t>
                      </a:r>
                    </a:p>
                  </a:txBody>
                  <a:tcPr marL="73152" marR="73152" marT="45720" marB="45720">
                    <a:solidFill>
                      <a:srgbClr val="EEEEEE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>
                          <a:solidFill>
                            <a:srgbClr val="0A1530"/>
                          </a:solidFill>
                          <a:latin typeface="Helvetica"/>
                        </a:rPr>
                        <a:t>觸控 / 麻雀枱</a:t>
                      </a:r>
                    </a:p>
                  </a:txBody>
                  <a:tcPr marL="73152" marR="73152" marT="45720" marB="45720">
                    <a:solidFill>
                      <a:srgbClr val="EEEEEE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>
                          <a:solidFill>
                            <a:srgbClr val="0A1530"/>
                          </a:solidFill>
                          <a:latin typeface="Helvetica"/>
                        </a:rPr>
                        <a:t>單車 + 螢幕</a:t>
                      </a:r>
                    </a:p>
                  </a:txBody>
                  <a:tcPr marL="73152" marR="73152" marT="45720" marB="45720">
                    <a:solidFill>
                      <a:srgbClr val="EEEEEE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>
                          <a:solidFill>
                            <a:srgbClr val="0A1530"/>
                          </a:solidFill>
                          <a:latin typeface="Helvetica"/>
                        </a:rPr>
                        <a:t>AI 體感鏡頭</a:t>
                      </a:r>
                    </a:p>
                  </a:txBody>
                  <a:tcPr marL="73152" marR="73152" marT="45720" marB="45720">
                    <a:solidFill>
                      <a:srgbClr val="FFF8E8"/>
                    </a:solidFill>
                  </a:tcPr>
                </a:tc>
              </a:tr>
              <a:tr h="390698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0A1530"/>
                          </a:solidFill>
                          <a:latin typeface="Helvetica"/>
                        </a:rPr>
                        <a:t>全身動作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>
                          <a:solidFill>
                            <a:srgbClr val="0A1530"/>
                          </a:solidFill>
                          <a:latin typeface="Helvetica"/>
                        </a:rPr>
                        <a:t>✗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>
                          <a:solidFill>
                            <a:srgbClr val="0A1530"/>
                          </a:solidFill>
                          <a:latin typeface="Helvetica"/>
                        </a:rPr>
                        <a:t>單車 only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>
                          <a:solidFill>
                            <a:srgbClr val="0A1530"/>
                          </a:solidFill>
                          <a:latin typeface="Helvetica"/>
                        </a:rPr>
                        <a:t>✓</a:t>
                      </a:r>
                    </a:p>
                  </a:txBody>
                  <a:tcPr marL="73152" marR="73152" marT="45720" marB="45720">
                    <a:solidFill>
                      <a:srgbClr val="FFF8E8"/>
                    </a:solidFill>
                  </a:tcPr>
                </a:tc>
              </a:tr>
              <a:tr h="390698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0A1530"/>
                          </a:solidFill>
                          <a:latin typeface="Helvetica"/>
                        </a:rPr>
                        <a:t>多人對戰</a:t>
                      </a:r>
                    </a:p>
                  </a:txBody>
                  <a:tcPr marL="73152" marR="73152" marT="45720" marB="45720">
                    <a:solidFill>
                      <a:srgbClr val="EEEEEE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>
                          <a:solidFill>
                            <a:srgbClr val="0A1530"/>
                          </a:solidFill>
                          <a:latin typeface="Helvetica"/>
                        </a:rPr>
                        <a:t>同枱限定</a:t>
                      </a:r>
                    </a:p>
                  </a:txBody>
                  <a:tcPr marL="73152" marR="73152" marT="45720" marB="45720">
                    <a:solidFill>
                      <a:srgbClr val="EEEEEE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>
                          <a:solidFill>
                            <a:srgbClr val="0A1530"/>
                          </a:solidFill>
                          <a:latin typeface="Helvetica"/>
                        </a:rPr>
                        <a:t>✗</a:t>
                      </a:r>
                    </a:p>
                  </a:txBody>
                  <a:tcPr marL="73152" marR="73152" marT="45720" marB="45720">
                    <a:solidFill>
                      <a:srgbClr val="EEEEEE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>
                          <a:solidFill>
                            <a:srgbClr val="0A1530"/>
                          </a:solidFill>
                          <a:latin typeface="Helvetica"/>
                        </a:rPr>
                        <a:t>✓ 1v1 / 2v2</a:t>
                      </a:r>
                    </a:p>
                  </a:txBody>
                  <a:tcPr marL="73152" marR="73152" marT="45720" marB="45720">
                    <a:solidFill>
                      <a:srgbClr val="FFF8E8"/>
                    </a:solidFill>
                  </a:tcPr>
                </a:tc>
              </a:tr>
              <a:tr h="390698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0A1530"/>
                          </a:solidFill>
                          <a:latin typeface="Helvetica"/>
                        </a:rPr>
                        <a:t>6 大認知報告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>
                          <a:solidFill>
                            <a:srgbClr val="0A1530"/>
                          </a:solidFill>
                          <a:latin typeface="Helvetica"/>
                        </a:rPr>
                        <a:t>✓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>
                          <a:solidFill>
                            <a:srgbClr val="0A1530"/>
                          </a:solidFill>
                          <a:latin typeface="Helvetica"/>
                        </a:rPr>
                        <a:t>✗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>
                          <a:solidFill>
                            <a:srgbClr val="0A1530"/>
                          </a:solidFill>
                          <a:latin typeface="Helvetica"/>
                        </a:rPr>
                        <a:t>✓</a:t>
                      </a:r>
                    </a:p>
                  </a:txBody>
                  <a:tcPr marL="73152" marR="73152" marT="45720" marB="45720">
                    <a:solidFill>
                      <a:srgbClr val="FFF8E8"/>
                    </a:solidFill>
                  </a:tcPr>
                </a:tc>
              </a:tr>
              <a:tr h="390698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0A1530"/>
                          </a:solidFill>
                          <a:latin typeface="Helvetica"/>
                        </a:rPr>
                        <a:t>硬件門檻</a:t>
                      </a:r>
                    </a:p>
                  </a:txBody>
                  <a:tcPr marL="73152" marR="73152" marT="45720" marB="45720">
                    <a:solidFill>
                      <a:srgbClr val="EEEEEE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>
                          <a:solidFill>
                            <a:srgbClr val="0A1530"/>
                          </a:solidFill>
                          <a:latin typeface="Helvetica"/>
                        </a:rPr>
                        <a:t>HK$30K–80K</a:t>
                      </a:r>
                    </a:p>
                  </a:txBody>
                  <a:tcPr marL="73152" marR="73152" marT="45720" marB="45720">
                    <a:solidFill>
                      <a:srgbClr val="EEEEEE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>
                          <a:solidFill>
                            <a:srgbClr val="0A1530"/>
                          </a:solidFill>
                          <a:latin typeface="Helvetica"/>
                        </a:rPr>
                        <a:t>HK$15K + 單車</a:t>
                      </a:r>
                    </a:p>
                  </a:txBody>
                  <a:tcPr marL="73152" marR="73152" marT="45720" marB="45720">
                    <a:solidFill>
                      <a:srgbClr val="EEEEEE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>
                          <a:solidFill>
                            <a:srgbClr val="0A1530"/>
                          </a:solidFill>
                          <a:latin typeface="Helvetica"/>
                        </a:rPr>
                        <a:t>HK$0 / 15K</a:t>
                      </a:r>
                    </a:p>
                  </a:txBody>
                  <a:tcPr marL="73152" marR="73152" marT="45720" marB="45720">
                    <a:solidFill>
                      <a:srgbClr val="FFF8E8"/>
                    </a:solidFill>
                  </a:tcPr>
                </a:tc>
              </a:tr>
              <a:tr h="390698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0A1530"/>
                          </a:solidFill>
                          <a:latin typeface="Helvetica"/>
                        </a:rPr>
                        <a:t>年費 (HKD)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>
                          <a:solidFill>
                            <a:srgbClr val="0A1530"/>
                          </a:solidFill>
                          <a:latin typeface="Helvetica"/>
                        </a:rPr>
                        <a:t>$30K–60K (不透明)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>
                          <a:solidFill>
                            <a:srgbClr val="0A1530"/>
                          </a:solidFill>
                          <a:latin typeface="Helvetica"/>
                        </a:rPr>
                        <a:t>$25K–40K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>
                          <a:solidFill>
                            <a:srgbClr val="0A1530"/>
                          </a:solidFill>
                          <a:latin typeface="Helvetica"/>
                        </a:rPr>
                        <a:t>$0 / $11.7K / $28.8K / 15K+</a:t>
                      </a:r>
                    </a:p>
                  </a:txBody>
                  <a:tcPr marL="73152" marR="73152" marT="45720" marB="45720">
                    <a:solidFill>
                      <a:srgbClr val="FFF8E8"/>
                    </a:solidFill>
                  </a:tcPr>
                </a:tc>
              </a:tr>
              <a:tr h="390698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0A1530"/>
                          </a:solidFill>
                          <a:latin typeface="Helvetica"/>
                        </a:rPr>
                        <a:t>公開定價</a:t>
                      </a:r>
                    </a:p>
                  </a:txBody>
                  <a:tcPr marL="73152" marR="73152" marT="45720" marB="45720">
                    <a:solidFill>
                      <a:srgbClr val="EEEEEE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>
                          <a:solidFill>
                            <a:srgbClr val="0A1530"/>
                          </a:solidFill>
                          <a:latin typeface="Helvetica"/>
                        </a:rPr>
                        <a:t>✗</a:t>
                      </a:r>
                    </a:p>
                  </a:txBody>
                  <a:tcPr marL="73152" marR="73152" marT="45720" marB="45720">
                    <a:solidFill>
                      <a:srgbClr val="EEEEEE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>
                          <a:solidFill>
                            <a:srgbClr val="0A1530"/>
                          </a:solidFill>
                          <a:latin typeface="Helvetica"/>
                        </a:rPr>
                        <a:t>✗</a:t>
                      </a:r>
                    </a:p>
                  </a:txBody>
                  <a:tcPr marL="73152" marR="73152" marT="45720" marB="45720">
                    <a:solidFill>
                      <a:srgbClr val="EEEEEE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>
                          <a:solidFill>
                            <a:srgbClr val="0A1530"/>
                          </a:solidFill>
                          <a:latin typeface="Helvetica"/>
                        </a:rPr>
                        <a:t>✓</a:t>
                      </a:r>
                    </a:p>
                  </a:txBody>
                  <a:tcPr marL="73152" marR="73152" marT="45720" marB="45720">
                    <a:solidFill>
                      <a:srgbClr val="FFF8E8"/>
                    </a:solidFill>
                  </a:tcPr>
                </a:tc>
              </a:tr>
              <a:tr h="390698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0A1530"/>
                          </a:solidFill>
                          <a:latin typeface="Helvetica"/>
                        </a:rPr>
                        <a:t>免費試玩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>
                          <a:solidFill>
                            <a:srgbClr val="0A1530"/>
                          </a:solidFill>
                          <a:latin typeface="Helvetica"/>
                        </a:rPr>
                        <a:t>✗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>
                          <a:solidFill>
                            <a:srgbClr val="0A1530"/>
                          </a:solidFill>
                          <a:latin typeface="Helvetica"/>
                        </a:rPr>
                        <a:t>✗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>
                          <a:solidFill>
                            <a:srgbClr val="0A1530"/>
                          </a:solidFill>
                          <a:latin typeface="Helvetica"/>
                        </a:rPr>
                        <a:t>✓</a:t>
                      </a:r>
                    </a:p>
                  </a:txBody>
                  <a:tcPr marL="73152" marR="73152" marT="45720" marB="45720">
                    <a:solidFill>
                      <a:srgbClr val="FFF8E8"/>
                    </a:solidFill>
                  </a:tcPr>
                </a:tc>
              </a:tr>
              <a:tr h="390700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0A1530"/>
                          </a:solidFill>
                          <a:latin typeface="Helvetica"/>
                        </a:rPr>
                        <a:t>樂齡基金代辦</a:t>
                      </a:r>
                    </a:p>
                  </a:txBody>
                  <a:tcPr marL="73152" marR="73152" marT="45720" marB="45720">
                    <a:solidFill>
                      <a:srgbClr val="EEEEEE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>
                          <a:solidFill>
                            <a:srgbClr val="0A1530"/>
                          </a:solidFill>
                          <a:latin typeface="Helvetica"/>
                        </a:rPr>
                        <a:t>✓</a:t>
                      </a:r>
                    </a:p>
                  </a:txBody>
                  <a:tcPr marL="73152" marR="73152" marT="45720" marB="45720">
                    <a:solidFill>
                      <a:srgbClr val="EEEEEE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>
                          <a:solidFill>
                            <a:srgbClr val="0A1530"/>
                          </a:solidFill>
                          <a:latin typeface="Helvetica"/>
                        </a:rPr>
                        <a:t>✗</a:t>
                      </a:r>
                    </a:p>
                  </a:txBody>
                  <a:tcPr marL="73152" marR="73152" marT="45720" marB="45720">
                    <a:solidFill>
                      <a:srgbClr val="EEEEEE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>
                          <a:solidFill>
                            <a:srgbClr val="0A1530"/>
                          </a:solidFill>
                          <a:latin typeface="Helvetica"/>
                        </a:rPr>
                        <a:t>✓</a:t>
                      </a:r>
                    </a:p>
                  </a:txBody>
                  <a:tcPr marL="73152" marR="73152" marT="45720" marB="45720">
                    <a:solidFill>
                      <a:srgbClr val="FFF8E8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F8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47688"/>
            <a:ext cx="731520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Helvetica"/>
              </a:rPr>
              <a:t>銀齡遊樂園 · Silver-Age Playground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47688"/>
            <a:ext cx="137160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Helvetica"/>
              </a:rPr>
              <a:t>7 /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F8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EF8173"/>
                </a:solidFill>
                <a:latin typeface="Helvetica"/>
              </a:rPr>
              <a:t>08 · PRICING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00" b="1">
                <a:solidFill>
                  <a:srgbClr val="0A1530"/>
                </a:solidFill>
                <a:latin typeface="Helvetica"/>
              </a:rPr>
              <a:t>四層收費 — 由免費到企業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>
                <a:solidFill>
                  <a:srgbClr val="666666"/>
                </a:solidFill>
                <a:latin typeface="Helvetica"/>
              </a:rPr>
              <a:t>Free / Pro / Plus / Enterprise — wedge in via Free, scale through Plus, lock-in via Enterprise.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965960"/>
            <a:ext cx="2697480" cy="4434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EE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965960"/>
            <a:ext cx="2697480" cy="109728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2331720"/>
            <a:ext cx="26974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EEEEEE"/>
                </a:solidFill>
                <a:latin typeface="Helvetica"/>
              </a:rPr>
              <a:t>FREE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834640"/>
            <a:ext cx="2697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666666"/>
                </a:solidFill>
                <a:latin typeface="Helvetica"/>
              </a:rPr>
              <a:t>試玩版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3291840"/>
            <a:ext cx="269748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0A1530"/>
                </a:solidFill>
                <a:latin typeface="Helvetica"/>
              </a:rPr>
              <a:t>HKD $0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3840479"/>
            <a:ext cx="26974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666666"/>
                </a:solidFill>
                <a:latin typeface="Helvetica"/>
              </a:rPr>
              <a:t>forever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4297680"/>
            <a:ext cx="2423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0A1530"/>
                </a:solidFill>
                <a:latin typeface="Helvetica"/>
              </a:rPr>
              <a:t>•  3 款輪替遊戲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" y="4590287"/>
            <a:ext cx="2423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0A1530"/>
                </a:solidFill>
                <a:latin typeface="Helvetica"/>
              </a:rPr>
              <a:t>•  5 min × 10 / day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" y="4882896"/>
            <a:ext cx="2423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0A1530"/>
                </a:solidFill>
                <a:latin typeface="Helvetica"/>
              </a:rPr>
              <a:t>•  1 部裝置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" y="5175504"/>
            <a:ext cx="2423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0A1530"/>
                </a:solidFill>
                <a:latin typeface="Helvetica"/>
              </a:rPr>
              <a:t>•  匿名 — 無報告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" y="5468112"/>
            <a:ext cx="2423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0A1530"/>
                </a:solidFill>
                <a:latin typeface="Helvetica"/>
              </a:rPr>
              <a:t>•  Watermark 品牌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" y="5760720"/>
            <a:ext cx="2423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0A1530"/>
                </a:solidFill>
                <a:latin typeface="Helvetica"/>
              </a:rPr>
              <a:t>•  社群支援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55264" y="1965960"/>
            <a:ext cx="2697480" cy="4434840"/>
          </a:xfrm>
          <a:prstGeom prst="roundRect">
            <a:avLst/>
          </a:prstGeom>
          <a:solidFill>
            <a:srgbClr val="FFF8E8"/>
          </a:solidFill>
          <a:ln w="19050">
            <a:solidFill>
              <a:srgbClr val="EF81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55264" y="1965960"/>
            <a:ext cx="2697480" cy="109728"/>
          </a:xfrm>
          <a:prstGeom prst="rect">
            <a:avLst/>
          </a:prstGeom>
          <a:solidFill>
            <a:srgbClr val="EF8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55264" y="2331720"/>
            <a:ext cx="26974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EF8173"/>
                </a:solidFill>
                <a:latin typeface="Helvetica"/>
              </a:rPr>
              <a:t>PRO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55264" y="2834640"/>
            <a:ext cx="2697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666666"/>
                </a:solidFill>
                <a:latin typeface="Helvetica"/>
              </a:rPr>
              <a:t>標準版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55264" y="3291840"/>
            <a:ext cx="269748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0A1530"/>
                </a:solidFill>
                <a:latin typeface="Helvetica"/>
              </a:rPr>
              <a:t>HKD $980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55264" y="3840479"/>
            <a:ext cx="26974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666666"/>
                </a:solidFill>
                <a:latin typeface="Helvetica"/>
              </a:rPr>
              <a:t>/ month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56432" y="4297680"/>
            <a:ext cx="2423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0A1530"/>
                </a:solidFill>
                <a:latin typeface="Helvetica"/>
              </a:rPr>
              <a:t>•  全部遊戲 + 每月新增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56432" y="4590287"/>
            <a:ext cx="2423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0A1530"/>
                </a:solidFill>
                <a:latin typeface="Helvetica"/>
              </a:rPr>
              <a:t>•  20 位院友帳戶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56432" y="4882896"/>
            <a:ext cx="2423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0A1530"/>
                </a:solidFill>
                <a:latin typeface="Helvetica"/>
              </a:rPr>
              <a:t>•  1 間院舍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56432" y="5175504"/>
            <a:ext cx="2423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0A1530"/>
                </a:solidFill>
                <a:latin typeface="Helvetica"/>
              </a:rPr>
              <a:t>•  基本 PDF 報告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56432" y="5468112"/>
            <a:ext cx="2423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0A1530"/>
                </a:solidFill>
                <a:latin typeface="Helvetica"/>
              </a:rPr>
              <a:t>•  中心 logo 品牌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56432" y="5760720"/>
            <a:ext cx="2423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0A1530"/>
                </a:solidFill>
                <a:latin typeface="Helvetica"/>
              </a:rPr>
              <a:t>•  WhatsApp 支援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099048" y="1965960"/>
            <a:ext cx="2697480" cy="4434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A1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9048" y="1965960"/>
            <a:ext cx="2697480" cy="109728"/>
          </a:xfrm>
          <a:prstGeom prst="rect">
            <a:avLst/>
          </a:prstGeom>
          <a:solidFill>
            <a:srgbClr val="0A1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99048" y="2331720"/>
            <a:ext cx="26974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0A1530"/>
                </a:solidFill>
                <a:latin typeface="Helvetica"/>
              </a:rPr>
              <a:t>PLUS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99048" y="2834640"/>
            <a:ext cx="2697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666666"/>
                </a:solidFill>
                <a:latin typeface="Helvetica"/>
              </a:rPr>
              <a:t>旗艦版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99048" y="3291840"/>
            <a:ext cx="269748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0A1530"/>
                </a:solidFill>
                <a:latin typeface="Helvetica"/>
              </a:rPr>
              <a:t>HKD $2,400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99048" y="3840479"/>
            <a:ext cx="26974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666666"/>
                </a:solidFill>
                <a:latin typeface="Helvetica"/>
              </a:rPr>
              <a:t>/ month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0216" y="4297680"/>
            <a:ext cx="2423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0A1530"/>
                </a:solidFill>
                <a:latin typeface="Helvetica"/>
              </a:rPr>
              <a:t>•  Pro 全部功能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0216" y="4590287"/>
            <a:ext cx="2423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0A1530"/>
                </a:solidFill>
                <a:latin typeface="Helvetica"/>
              </a:rPr>
              <a:t>•  50 位院友 / 5 staff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00216" y="4882896"/>
            <a:ext cx="2423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0A1530"/>
                </a:solidFill>
                <a:latin typeface="Helvetica"/>
              </a:rPr>
              <a:t>•  6 大領域臨床報告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00216" y="5175504"/>
            <a:ext cx="2423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0A1530"/>
                </a:solidFill>
                <a:latin typeface="Helvetica"/>
              </a:rPr>
              <a:t>•  跌倒風險 + 對比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00216" y="5468112"/>
            <a:ext cx="2423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0A1530"/>
                </a:solidFill>
                <a:latin typeface="Helvetica"/>
              </a:rPr>
              <a:t>•  全白標 + 客製域名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00216" y="5760720"/>
            <a:ext cx="2423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0A1530"/>
                </a:solidFill>
                <a:latin typeface="Helvetica"/>
              </a:rPr>
              <a:t>•  BLSAA 申請 kit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942832" y="1965960"/>
            <a:ext cx="2697480" cy="4434840"/>
          </a:xfrm>
          <a:prstGeom prst="roundRect">
            <a:avLst/>
          </a:prstGeom>
          <a:solidFill>
            <a:srgbClr val="0A1530"/>
          </a:solidFill>
          <a:ln w="19050">
            <a:solidFill>
              <a:srgbClr val="FFD2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942832" y="1965960"/>
            <a:ext cx="2697480" cy="109728"/>
          </a:xfrm>
          <a:prstGeom prst="rect">
            <a:avLst/>
          </a:prstGeom>
          <a:solidFill>
            <a:srgbClr val="FFD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942832" y="2331720"/>
            <a:ext cx="26974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Helvetica"/>
              </a:rPr>
              <a:t>ENTERPRISE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942832" y="2834640"/>
            <a:ext cx="2697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EEEEEE"/>
                </a:solidFill>
                <a:latin typeface="Helvetica"/>
              </a:rPr>
              <a:t>企業版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942832" y="3291840"/>
            <a:ext cx="269748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Helvetica"/>
              </a:rPr>
              <a:t>From $15K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942832" y="3840479"/>
            <a:ext cx="26974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EEEEEE"/>
                </a:solidFill>
                <a:latin typeface="Helvetica"/>
              </a:rPr>
              <a:t>/ month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44000" y="4297680"/>
            <a:ext cx="2423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Helvetica"/>
              </a:rPr>
              <a:t>•  多院舍 / 集團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44000" y="4590287"/>
            <a:ext cx="2423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Helvetica"/>
              </a:rPr>
              <a:t>•  無限院友 + seats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44000" y="4882896"/>
            <a:ext cx="2423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Helvetica"/>
              </a:rPr>
              <a:t>•  專屬 CSM + API/EHR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44000" y="5175504"/>
            <a:ext cx="2423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Helvetica"/>
              </a:rPr>
              <a:t>•  BLSAA 代辦服務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44000" y="5468112"/>
            <a:ext cx="2423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Helvetica"/>
              </a:rPr>
              <a:t>•  院舍營運培訓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144000" y="5760720"/>
            <a:ext cx="2423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Helvetica"/>
              </a:rPr>
              <a:t>•  SLA + on-site 支援</a:t>
            </a:r>
          </a:p>
        </p:txBody>
      </p:sp>
      <p:sp>
        <p:nvSpPr>
          <p:cNvPr id="55" name="Rectangle 5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F8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65760" y="6647688"/>
            <a:ext cx="731520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Helvetica"/>
              </a:rPr>
              <a:t>銀齡遊樂園 · Silver-Age Playground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515600" y="6647688"/>
            <a:ext cx="137160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Helvetica"/>
              </a:rPr>
              <a:t>8 /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F8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EF8173"/>
                </a:solidFill>
                <a:latin typeface="Helvetica"/>
              </a:rPr>
              <a:t>07 · THE WEDGE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00" b="1">
                <a:solidFill>
                  <a:srgbClr val="0A1530"/>
                </a:solidFill>
                <a:latin typeface="Helvetica"/>
              </a:rPr>
              <a:t>Free 是我哋最大競爭優勢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>
                <a:solidFill>
                  <a:srgbClr val="666666"/>
                </a:solidFill>
                <a:latin typeface="Helvetica"/>
              </a:rPr>
              <a:t>No competitor offers a free tier. We do.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103120"/>
            <a:ext cx="5532120" cy="1280160"/>
          </a:xfrm>
          <a:prstGeom prst="roundRect">
            <a:avLst/>
          </a:prstGeom>
          <a:solidFill>
            <a:srgbClr val="FFF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2331720"/>
            <a:ext cx="777240" cy="777240"/>
          </a:xfrm>
          <a:prstGeom prst="ellipse">
            <a:avLst/>
          </a:prstGeom>
          <a:solidFill>
            <a:srgbClr val="EF8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331720"/>
            <a:ext cx="77724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Helvetica"/>
              </a:rPr>
              <a:t>60s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240280"/>
            <a:ext cx="43434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EF8173"/>
                </a:solidFill>
                <a:latin typeface="Helvetica"/>
              </a:rPr>
              <a:t>60 秒上手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2651760"/>
            <a:ext cx="434340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0A1530"/>
                </a:solidFill>
                <a:latin typeface="Helvetica"/>
              </a:rPr>
              <a:t>社工 Google → 下載 → 即玩，毋須採購流程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2103120"/>
            <a:ext cx="5532120" cy="1280160"/>
          </a:xfrm>
          <a:prstGeom prst="roundRect">
            <a:avLst/>
          </a:prstGeom>
          <a:solidFill>
            <a:srgbClr val="FFF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2331720"/>
            <a:ext cx="777240" cy="777240"/>
          </a:xfrm>
          <a:prstGeom prst="ellipse">
            <a:avLst/>
          </a:prstGeom>
          <a:solidFill>
            <a:srgbClr val="EF8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2331720"/>
            <a:ext cx="77724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Helvetica"/>
              </a:rPr>
              <a:t>VIR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60920" y="2240280"/>
            <a:ext cx="43434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EF8173"/>
                </a:solidFill>
                <a:latin typeface="Helvetica"/>
              </a:rPr>
              <a:t>病毒式擴散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60920" y="2651760"/>
            <a:ext cx="434340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0A1530"/>
                </a:solidFill>
                <a:latin typeface="Helvetica"/>
              </a:rPr>
              <a:t>員工 → 同事 → 管理層 → 簽 Pro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566160"/>
            <a:ext cx="5532120" cy="1280160"/>
          </a:xfrm>
          <a:prstGeom prst="roundRect">
            <a:avLst/>
          </a:prstGeom>
          <a:solidFill>
            <a:srgbClr val="FFF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31520" y="3794760"/>
            <a:ext cx="777240" cy="777240"/>
          </a:xfrm>
          <a:prstGeom prst="ellipse">
            <a:avLst/>
          </a:prstGeom>
          <a:solidFill>
            <a:srgbClr val="EF8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794760"/>
            <a:ext cx="77724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Helvetica"/>
              </a:rPr>
              <a:t>LEAD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3703320"/>
            <a:ext cx="43434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EF8173"/>
                </a:solidFill>
                <a:latin typeface="Helvetica"/>
              </a:rPr>
              <a:t>Lead funnel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4114800"/>
            <a:ext cx="434340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0A1530"/>
                </a:solidFill>
                <a:latin typeface="Helvetica"/>
              </a:rPr>
              <a:t>每個免費用戶 = 一個已知 RCHE / NGO email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3566160"/>
            <a:ext cx="5532120" cy="1280160"/>
          </a:xfrm>
          <a:prstGeom prst="roundRect">
            <a:avLst/>
          </a:prstGeom>
          <a:solidFill>
            <a:srgbClr val="FFF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46520" y="3794760"/>
            <a:ext cx="777240" cy="777240"/>
          </a:xfrm>
          <a:prstGeom prst="ellipse">
            <a:avLst/>
          </a:prstGeom>
          <a:solidFill>
            <a:srgbClr val="EF8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3794760"/>
            <a:ext cx="77724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Helvetica"/>
              </a:rPr>
              <a:t>PR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60920" y="3703320"/>
            <a:ext cx="43434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EF8173"/>
                </a:solidFill>
                <a:latin typeface="Helvetica"/>
              </a:rPr>
              <a:t>PR 角度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60920" y="4114800"/>
            <a:ext cx="434340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0A1530"/>
                </a:solidFill>
                <a:latin typeface="Helvetica"/>
              </a:rPr>
              <a:t>「免費捐贈全港 300 間長者中心」→ 報紙頭條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5029200"/>
            <a:ext cx="5532120" cy="1280160"/>
          </a:xfrm>
          <a:prstGeom prst="roundRect">
            <a:avLst/>
          </a:prstGeom>
          <a:solidFill>
            <a:srgbClr val="FFF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31520" y="5257800"/>
            <a:ext cx="777240" cy="777240"/>
          </a:xfrm>
          <a:prstGeom prst="ellipse">
            <a:avLst/>
          </a:prstGeom>
          <a:solidFill>
            <a:srgbClr val="EF8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5257800"/>
            <a:ext cx="77724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Helvetica"/>
              </a:rPr>
              <a:t>MOAT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45920" y="5166360"/>
            <a:ext cx="43434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EF8173"/>
                </a:solidFill>
                <a:latin typeface="Helvetica"/>
              </a:rPr>
              <a:t>防守城牆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45920" y="5577840"/>
            <a:ext cx="434340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0A1530"/>
                </a:solidFill>
                <a:latin typeface="Helvetica"/>
              </a:rPr>
              <a:t>院舍一旦上手，唔會轉買 NeuroGym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63640" y="5029200"/>
            <a:ext cx="5532120" cy="1280160"/>
          </a:xfrm>
          <a:prstGeom prst="roundRect">
            <a:avLst/>
          </a:prstGeom>
          <a:solidFill>
            <a:srgbClr val="FFF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46520" y="5257800"/>
            <a:ext cx="777240" cy="777240"/>
          </a:xfrm>
          <a:prstGeom prst="ellipse">
            <a:avLst/>
          </a:prstGeom>
          <a:solidFill>
            <a:srgbClr val="EF8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46520" y="5257800"/>
            <a:ext cx="77724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Helvetica"/>
              </a:rPr>
              <a:t>$0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60920" y="5166360"/>
            <a:ext cx="43434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EF8173"/>
                </a:solidFill>
                <a:latin typeface="Helvetica"/>
              </a:rPr>
              <a:t>零邊際成本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60920" y="5577840"/>
            <a:ext cx="434340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0A1530"/>
                </a:solidFill>
                <a:latin typeface="Helvetica"/>
              </a:rPr>
              <a:t>一個 server 服務 1000 個 free user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F8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5760" y="6647688"/>
            <a:ext cx="731520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Helvetica"/>
              </a:rPr>
              <a:t>銀齡遊樂園 · Silver-Age Playground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0" y="6647688"/>
            <a:ext cx="137160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Helvetica"/>
              </a:rPr>
              <a:t>9 /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F8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EF8173"/>
                </a:solidFill>
                <a:latin typeface="Helvetica"/>
              </a:rPr>
              <a:t>08 · BUYER 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00" b="1">
                <a:solidFill>
                  <a:srgbClr val="0A1530"/>
                </a:solidFill>
                <a:latin typeface="Helvetica"/>
              </a:rPr>
              <a:t>為什麼院舍會升級到 Pro / Plus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11064240" cy="777240"/>
          </a:xfrm>
          <a:prstGeom prst="roundRect">
            <a:avLst/>
          </a:prstGeom>
          <a:solidFill>
            <a:srgbClr val="FFF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85800" y="2240280"/>
            <a:ext cx="502920" cy="502920"/>
          </a:xfrm>
          <a:prstGeom prst="ellipse">
            <a:avLst/>
          </a:prstGeom>
          <a:solidFill>
            <a:srgbClr val="EF8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240280"/>
            <a:ext cx="5029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Helvetic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194560"/>
            <a:ext cx="32004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A1530"/>
                </a:solidFill>
                <a:latin typeface="Helvetica"/>
              </a:rPr>
              <a:t>慳人手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51460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Helvetica"/>
              </a:rPr>
              <a:t>一個社工同時帶 8 位院友玩，無需 1-on-1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971800"/>
            <a:ext cx="11064240" cy="777240"/>
          </a:xfrm>
          <a:prstGeom prst="roundRect">
            <a:avLst/>
          </a:prstGeom>
          <a:solidFill>
            <a:srgbClr val="FFF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85800" y="3108960"/>
            <a:ext cx="502920" cy="502920"/>
          </a:xfrm>
          <a:prstGeom prst="ellipse">
            <a:avLst/>
          </a:prstGeom>
          <a:solidFill>
            <a:srgbClr val="EF8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108960"/>
            <a:ext cx="5029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Helvetic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063240"/>
            <a:ext cx="32004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A1530"/>
                </a:solidFill>
                <a:latin typeface="Helvetica"/>
              </a:rPr>
              <a:t>可量度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38328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Helvetica"/>
              </a:rPr>
              <a:t>自動 PDF 報告 → 應付 SQS 服務質素標準審核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840480"/>
            <a:ext cx="11064240" cy="777240"/>
          </a:xfrm>
          <a:prstGeom prst="roundRect">
            <a:avLst/>
          </a:prstGeom>
          <a:solidFill>
            <a:srgbClr val="FFF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85800" y="3977640"/>
            <a:ext cx="502920" cy="502920"/>
          </a:xfrm>
          <a:prstGeom prst="ellipse">
            <a:avLst/>
          </a:prstGeom>
          <a:solidFill>
            <a:srgbClr val="EF8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977640"/>
            <a:ext cx="5029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Helvetic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931920"/>
            <a:ext cx="32004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A1530"/>
                </a:solidFill>
                <a:latin typeface="Helvetica"/>
              </a:rPr>
              <a:t>可申資助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25196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Helvetica"/>
              </a:rPr>
              <a:t>BLSAA 每間院舍最多 HK$1M — 等於 41 年 Plus 月費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709160"/>
            <a:ext cx="11064240" cy="777240"/>
          </a:xfrm>
          <a:prstGeom prst="roundRect">
            <a:avLst/>
          </a:prstGeom>
          <a:solidFill>
            <a:srgbClr val="FFF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85800" y="4846320"/>
            <a:ext cx="502920" cy="502920"/>
          </a:xfrm>
          <a:prstGeom prst="ellipse">
            <a:avLst/>
          </a:prstGeom>
          <a:solidFill>
            <a:srgbClr val="EF8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846320"/>
            <a:ext cx="5029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Helvetica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800600"/>
            <a:ext cx="32004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A1530"/>
                </a:solidFill>
                <a:latin typeface="Helvetica"/>
              </a:rPr>
              <a:t>取代多儀器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512064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Helvetica"/>
              </a:rPr>
              <a:t>一個 sub 取代買單車 + 踏步機 + 麻雀枱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577840"/>
            <a:ext cx="11064240" cy="777240"/>
          </a:xfrm>
          <a:prstGeom prst="roundRect">
            <a:avLst/>
          </a:prstGeom>
          <a:solidFill>
            <a:srgbClr val="FFF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85800" y="5715000"/>
            <a:ext cx="502920" cy="502920"/>
          </a:xfrm>
          <a:prstGeom prst="ellipse">
            <a:avLst/>
          </a:prstGeom>
          <a:solidFill>
            <a:srgbClr val="EF8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5715000"/>
            <a:ext cx="5029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Helvetica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5669280"/>
            <a:ext cx="32004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A1530"/>
                </a:solidFill>
                <a:latin typeface="Helvetica"/>
              </a:rPr>
              <a:t>群體活動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71600" y="598932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Helvetica"/>
              </a:rPr>
              <a:t>院友期待、家屬睇到、董事會買單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F8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6647688"/>
            <a:ext cx="731520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Helvetica"/>
              </a:rPr>
              <a:t>銀齡遊樂園 · Silver-Age Playground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0" y="6647688"/>
            <a:ext cx="137160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Helvetica"/>
              </a:rPr>
              <a:t>10 /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F8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EF8173"/>
                </a:solidFill>
                <a:latin typeface="Helvetica"/>
              </a:rPr>
              <a:t>09 · CUSTOMER JOURNEY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00" b="1">
                <a:solidFill>
                  <a:srgbClr val="0A1530"/>
                </a:solidFill>
                <a:latin typeface="Helvetica"/>
              </a:rPr>
              <a:t>由 Free 到 Plus 的客戶旅程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>
                <a:solidFill>
                  <a:srgbClr val="666666"/>
                </a:solidFill>
                <a:latin typeface="Helvetica"/>
              </a:rPr>
              <a:t>Self-serve funnel — no 4-week sales cycle like NeuroGym.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377440"/>
            <a:ext cx="2148840" cy="2560320"/>
          </a:xfrm>
          <a:prstGeom prst="roundRect">
            <a:avLst/>
          </a:prstGeom>
          <a:solidFill>
            <a:srgbClr val="EF8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651760"/>
            <a:ext cx="21488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Helvetica"/>
              </a:rPr>
              <a:t>Day 0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3246120"/>
            <a:ext cx="1417320" cy="274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3383280"/>
            <a:ext cx="187452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Helvetica"/>
              </a:rPr>
              <a:t>社工 Google search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114800"/>
            <a:ext cx="187452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Helvetica"/>
              </a:rPr>
              <a:t>Free 下載，即玩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34640" y="2377440"/>
            <a:ext cx="2148840" cy="2560320"/>
          </a:xfrm>
          <a:prstGeom prst="roundRect">
            <a:avLst/>
          </a:prstGeom>
          <a:solidFill>
            <a:srgbClr val="FFD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34640" y="2651760"/>
            <a:ext cx="21488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Helvetica"/>
              </a:rPr>
              <a:t>Day 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0" y="3246120"/>
            <a:ext cx="1417320" cy="274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71800" y="3383280"/>
            <a:ext cx="187452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Helvetica"/>
              </a:rPr>
              <a:t>院友主動要求多遊戲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71800" y="4114800"/>
            <a:ext cx="187452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Helvetica"/>
              </a:rPr>
              <a:t>升 Pro $980/mo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20640" y="2377440"/>
            <a:ext cx="2148840" cy="2560320"/>
          </a:xfrm>
          <a:prstGeom prst="roundRect">
            <a:avLst/>
          </a:prstGeom>
          <a:solidFill>
            <a:srgbClr val="3CD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20640" y="2651760"/>
            <a:ext cx="21488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Helvetica"/>
              </a:rPr>
              <a:t>Day 30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0" y="3246120"/>
            <a:ext cx="1417320" cy="274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57800" y="3383280"/>
            <a:ext cx="187452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Helvetica"/>
              </a:rPr>
              <a:t>管理層看 PDF 報告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57800" y="4114800"/>
            <a:ext cx="187452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Helvetica"/>
              </a:rPr>
              <a:t>全院推行 Pro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06640" y="2377440"/>
            <a:ext cx="2148840" cy="2560320"/>
          </a:xfrm>
          <a:prstGeom prst="roundRect">
            <a:avLst/>
          </a:prstGeom>
          <a:solidFill>
            <a:srgbClr val="0A1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06640" y="2651760"/>
            <a:ext cx="21488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Helvetica"/>
              </a:rPr>
              <a:t>Day 60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0" y="3246120"/>
            <a:ext cx="1417320" cy="274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43800" y="3383280"/>
            <a:ext cx="187452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Helvetica"/>
              </a:rPr>
              <a:t>申請 BLSAA 基金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43800" y="4114800"/>
            <a:ext cx="187452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Helvetica"/>
              </a:rPr>
              <a:t>加裝硬件 bundle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692640" y="2377440"/>
            <a:ext cx="2148840" cy="2560320"/>
          </a:xfrm>
          <a:prstGeom prst="roundRect">
            <a:avLst/>
          </a:prstGeom>
          <a:solidFill>
            <a:srgbClr val="EF8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92640" y="2651760"/>
            <a:ext cx="21488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Helvetica"/>
              </a:rPr>
              <a:t>Day 180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58400" y="3246120"/>
            <a:ext cx="1417320" cy="274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829800" y="3383280"/>
            <a:ext cx="187452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Helvetica"/>
              </a:rPr>
              <a:t>集團 5 間院舍跟隨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29800" y="4114800"/>
            <a:ext cx="187452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Helvetica"/>
              </a:rPr>
              <a:t>升 Plus $2,400/mo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52120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666666"/>
                </a:solidFill>
                <a:latin typeface="Helvetica"/>
              </a:rPr>
              <a:t>對比 NeuroGym：Day 0 = 打電話排期 demo，2–4 週後先收到 quote。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F8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6647688"/>
            <a:ext cx="731520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Helvetica"/>
              </a:rPr>
              <a:t>銀齡遊樂園 · Silver-Age Playground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0" y="6647688"/>
            <a:ext cx="137160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Helvetica"/>
              </a:rPr>
              <a:t>11 /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F8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EF8173"/>
                </a:solidFill>
                <a:latin typeface="Helvetica"/>
              </a:rPr>
              <a:t>10 · UNIT ECONOMICS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00" b="1">
                <a:solidFill>
                  <a:srgbClr val="0A1530"/>
                </a:solidFill>
                <a:latin typeface="Helvetica"/>
              </a:rPr>
              <a:t>商業模式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>
                <a:solidFill>
                  <a:srgbClr val="666666"/>
                </a:solidFill>
                <a:latin typeface="Helvetica"/>
              </a:rPr>
              <a:t>High-margin SaaS, low CAC via Free funnel.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2011680"/>
          <a:ext cx="1106424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5532120"/>
              </a:tblGrid>
              <a:tr h="429768"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指標 Metric</a:t>
                      </a:r>
                    </a:p>
                  </a:txBody>
                  <a:tcPr marL="73152" marR="73152" marT="45720" marB="45720">
                    <a:solidFill>
                      <a:srgbClr val="0A1530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估算 Estimate</a:t>
                      </a:r>
                    </a:p>
                  </a:txBody>
                  <a:tcPr marL="73152" marR="73152" marT="45720" marB="45720">
                    <a:solidFill>
                      <a:srgbClr val="0A1530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備註 Note</a:t>
                      </a:r>
                    </a:p>
                  </a:txBody>
                  <a:tcPr marL="73152" marR="73152" marT="45720" marB="45720">
                    <a:solidFill>
                      <a:srgbClr val="0A1530"/>
                    </a:solidFill>
                  </a:tcPr>
                </a:tc>
              </a:tr>
              <a:tr h="429768">
                <a:tc>
                  <a:txBody>
                    <a:bodyPr wrap="square" anchor="ctr"/>
                    <a:lstStyle/>
                    <a:p>
                      <a:r>
                        <a:rPr sz="1300" b="1">
                          <a:solidFill>
                            <a:srgbClr val="0A1530"/>
                          </a:solidFill>
                          <a:latin typeface="Helvetica"/>
                        </a:rPr>
                        <a:t>客單價 (Pro 年費)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300">
                          <a:solidFill>
                            <a:srgbClr val="0A1530"/>
                          </a:solidFill>
                          <a:latin typeface="Helvetica"/>
                        </a:rPr>
                        <a:t>HKD $11,760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300">
                          <a:solidFill>
                            <a:srgbClr val="0A1530"/>
                          </a:solidFill>
                          <a:latin typeface="Helvetica"/>
                        </a:rPr>
                        <a:t>12 × $980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 anchor="ctr"/>
                    <a:lstStyle/>
                    <a:p>
                      <a:r>
                        <a:rPr sz="1300" b="1">
                          <a:solidFill>
                            <a:srgbClr val="0A1530"/>
                          </a:solidFill>
                          <a:latin typeface="Helvetica"/>
                        </a:rPr>
                        <a:t>客單價 (Plus 年費)</a:t>
                      </a:r>
                    </a:p>
                  </a:txBody>
                  <a:tcPr marL="73152" marR="73152" marT="45720" marB="45720">
                    <a:solidFill>
                      <a:srgbClr val="EEEEEE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300">
                          <a:solidFill>
                            <a:srgbClr val="0A1530"/>
                          </a:solidFill>
                          <a:latin typeface="Helvetica"/>
                        </a:rPr>
                        <a:t>HKD $28,800</a:t>
                      </a:r>
                    </a:p>
                  </a:txBody>
                  <a:tcPr marL="73152" marR="73152" marT="45720" marB="45720">
                    <a:solidFill>
                      <a:srgbClr val="EEEEEE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300">
                          <a:solidFill>
                            <a:srgbClr val="0A1530"/>
                          </a:solidFill>
                          <a:latin typeface="Helvetica"/>
                        </a:rPr>
                        <a:t>12 × $2,400</a:t>
                      </a:r>
                    </a:p>
                  </a:txBody>
                  <a:tcPr marL="73152" marR="73152" marT="45720" marB="45720">
                    <a:solidFill>
                      <a:srgbClr val="EEEEEE"/>
                    </a:solidFill>
                  </a:tcPr>
                </a:tc>
              </a:tr>
              <a:tr h="429768">
                <a:tc>
                  <a:txBody>
                    <a:bodyPr wrap="square" anchor="ctr"/>
                    <a:lstStyle/>
                    <a:p>
                      <a:r>
                        <a:rPr sz="1300" b="1">
                          <a:solidFill>
                            <a:srgbClr val="0A1530"/>
                          </a:solidFill>
                          <a:latin typeface="Helvetica"/>
                        </a:rPr>
                        <a:t>客單價 (Enterprise)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300">
                          <a:solidFill>
                            <a:srgbClr val="0A1530"/>
                          </a:solidFill>
                          <a:latin typeface="Helvetica"/>
                        </a:rPr>
                        <a:t>HKD $180K+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300">
                          <a:solidFill>
                            <a:srgbClr val="0A1530"/>
                          </a:solidFill>
                          <a:latin typeface="Helvetica"/>
                        </a:rPr>
                        <a:t>12 × $15K (起跳)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 anchor="ctr"/>
                    <a:lstStyle/>
                    <a:p>
                      <a:r>
                        <a:rPr sz="1300" b="1">
                          <a:solidFill>
                            <a:srgbClr val="0A1530"/>
                          </a:solidFill>
                          <a:latin typeface="Helvetica"/>
                        </a:rPr>
                        <a:t>毛利率 Gross margin</a:t>
                      </a:r>
                    </a:p>
                  </a:txBody>
                  <a:tcPr marL="73152" marR="73152" marT="45720" marB="45720">
                    <a:solidFill>
                      <a:srgbClr val="EEEEEE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300">
                          <a:solidFill>
                            <a:srgbClr val="0A1530"/>
                          </a:solidFill>
                          <a:latin typeface="Helvetica"/>
                        </a:rPr>
                        <a:t>85 %+</a:t>
                      </a:r>
                    </a:p>
                  </a:txBody>
                  <a:tcPr marL="73152" marR="73152" marT="45720" marB="45720">
                    <a:solidFill>
                      <a:srgbClr val="EEEEEE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300">
                          <a:solidFill>
                            <a:srgbClr val="0A1530"/>
                          </a:solidFill>
                          <a:latin typeface="Helvetica"/>
                        </a:rPr>
                        <a:t>純 SaaS，無硬件 inventory</a:t>
                      </a:r>
                    </a:p>
                  </a:txBody>
                  <a:tcPr marL="73152" marR="73152" marT="45720" marB="45720">
                    <a:solidFill>
                      <a:srgbClr val="EEEEEE"/>
                    </a:solidFill>
                  </a:tcPr>
                </a:tc>
              </a:tr>
              <a:tr h="429768">
                <a:tc>
                  <a:txBody>
                    <a:bodyPr wrap="square" anchor="ctr"/>
                    <a:lstStyle/>
                    <a:p>
                      <a:r>
                        <a:rPr sz="1300" b="1">
                          <a:solidFill>
                            <a:srgbClr val="0A1530"/>
                          </a:solidFill>
                          <a:latin typeface="Helvetica"/>
                        </a:rPr>
                        <a:t>CAC (從 Free 轉換)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300">
                          <a:solidFill>
                            <a:srgbClr val="0A1530"/>
                          </a:solidFill>
                          <a:latin typeface="Helvetica"/>
                        </a:rPr>
                        <a:t>&lt; HKD $500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300">
                          <a:solidFill>
                            <a:srgbClr val="0A1530"/>
                          </a:solidFill>
                          <a:latin typeface="Helvetica"/>
                        </a:rPr>
                        <a:t>主要係 onboarding 時間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 anchor="ctr"/>
                    <a:lstStyle/>
                    <a:p>
                      <a:r>
                        <a:rPr sz="1300" b="1">
                          <a:solidFill>
                            <a:srgbClr val="0A1530"/>
                          </a:solidFill>
                          <a:latin typeface="Helvetica"/>
                        </a:rPr>
                        <a:t>LTV (3 年留存)</a:t>
                      </a:r>
                    </a:p>
                  </a:txBody>
                  <a:tcPr marL="73152" marR="73152" marT="45720" marB="45720">
                    <a:solidFill>
                      <a:srgbClr val="EEEEEE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300">
                          <a:solidFill>
                            <a:srgbClr val="0A1530"/>
                          </a:solidFill>
                          <a:latin typeface="Helvetica"/>
                        </a:rPr>
                        <a:t>HKD $35K – $540K</a:t>
                      </a:r>
                    </a:p>
                  </a:txBody>
                  <a:tcPr marL="73152" marR="73152" marT="45720" marB="45720">
                    <a:solidFill>
                      <a:srgbClr val="EEEEEE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300">
                          <a:solidFill>
                            <a:srgbClr val="0A1530"/>
                          </a:solidFill>
                          <a:latin typeface="Helvetica"/>
                        </a:rPr>
                        <a:t>院舍裝咗就唔換</a:t>
                      </a:r>
                    </a:p>
                  </a:txBody>
                  <a:tcPr marL="73152" marR="73152" marT="45720" marB="45720">
                    <a:solidFill>
                      <a:srgbClr val="EEEEEE"/>
                    </a:solidFill>
                  </a:tcPr>
                </a:tc>
              </a:tr>
              <a:tr h="429768">
                <a:tc>
                  <a:txBody>
                    <a:bodyPr wrap="square" anchor="ctr"/>
                    <a:lstStyle/>
                    <a:p>
                      <a:r>
                        <a:rPr sz="1300" b="1">
                          <a:solidFill>
                            <a:srgbClr val="0A1530"/>
                          </a:solidFill>
                          <a:latin typeface="Helvetica"/>
                        </a:rPr>
                        <a:t>LTV / CAC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300">
                          <a:solidFill>
                            <a:srgbClr val="0A1530"/>
                          </a:solidFill>
                          <a:latin typeface="Helvetica"/>
                        </a:rPr>
                        <a:t>&gt; 70 ×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300">
                          <a:solidFill>
                            <a:srgbClr val="0A1530"/>
                          </a:solidFill>
                          <a:latin typeface="Helvetica"/>
                        </a:rPr>
                        <a:t>健康 benchmark = 3-5 ×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 anchor="ctr"/>
                    <a:lstStyle/>
                    <a:p>
                      <a:r>
                        <a:rPr sz="1300" b="1">
                          <a:solidFill>
                            <a:srgbClr val="0A1530"/>
                          </a:solidFill>
                          <a:latin typeface="Helvetica"/>
                        </a:rPr>
                        <a:t>Payback period</a:t>
                      </a:r>
                    </a:p>
                  </a:txBody>
                  <a:tcPr marL="73152" marR="73152" marT="45720" marB="45720">
                    <a:solidFill>
                      <a:srgbClr val="EEEEEE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300">
                          <a:solidFill>
                            <a:srgbClr val="0A1530"/>
                          </a:solidFill>
                          <a:latin typeface="Helvetica"/>
                        </a:rPr>
                        <a:t>&lt; 1 month</a:t>
                      </a:r>
                    </a:p>
                  </a:txBody>
                  <a:tcPr marL="73152" marR="73152" marT="45720" marB="45720">
                    <a:solidFill>
                      <a:srgbClr val="EEEEEE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300">
                          <a:solidFill>
                            <a:srgbClr val="0A1530"/>
                          </a:solidFill>
                          <a:latin typeface="Helvetica"/>
                        </a:rPr>
                        <a:t>一單就回本 CAC</a:t>
                      </a:r>
                    </a:p>
                  </a:txBody>
                  <a:tcPr marL="73152" marR="73152" marT="45720" marB="45720">
                    <a:solidFill>
                      <a:srgbClr val="EEEEEE"/>
                    </a:solidFill>
                  </a:tcPr>
                </a:tc>
              </a:tr>
              <a:tr h="429768">
                <a:tc>
                  <a:txBody>
                    <a:bodyPr wrap="square" anchor="ctr"/>
                    <a:lstStyle/>
                    <a:p>
                      <a:r>
                        <a:rPr sz="1300" b="1">
                          <a:solidFill>
                            <a:srgbClr val="0A1530"/>
                          </a:solidFill>
                          <a:latin typeface="Helvetica"/>
                        </a:rPr>
                        <a:t>Break-even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300">
                          <a:solidFill>
                            <a:srgbClr val="0A1530"/>
                          </a:solidFill>
                          <a:latin typeface="Helvetica"/>
                        </a:rPr>
                        <a:t>第 30 個 Pro 客戶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300">
                          <a:solidFill>
                            <a:srgbClr val="0A1530"/>
                          </a:solidFill>
                          <a:latin typeface="Helvetica"/>
                        </a:rPr>
                        <a:t>~5 個月內可達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F8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647688"/>
            <a:ext cx="731520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Helvetica"/>
              </a:rPr>
              <a:t>銀齡遊樂園 · Silver-Age Playground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647688"/>
            <a:ext cx="137160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Helvetica"/>
              </a:rPr>
              <a:t>12 /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F8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EF8173"/>
                </a:solidFill>
                <a:latin typeface="Helvetica"/>
              </a:rPr>
              <a:t>11 ·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00" b="1">
                <a:solidFill>
                  <a:srgbClr val="0A1530"/>
                </a:solidFill>
                <a:latin typeface="Helvetica"/>
              </a:rPr>
              <a:t>12 個月路線圖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57400"/>
            <a:ext cx="269748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F81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057400"/>
            <a:ext cx="2697480" cy="685800"/>
          </a:xfrm>
          <a:prstGeom prst="rect">
            <a:avLst/>
          </a:prstGeom>
          <a:solidFill>
            <a:srgbClr val="EF8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48840"/>
            <a:ext cx="2697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Helvetica"/>
              </a:rPr>
              <a:t>Q3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68880"/>
            <a:ext cx="26974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Helvetica"/>
              </a:rPr>
              <a:t>上線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971800"/>
            <a:ext cx="242316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0A1530"/>
                </a:solidFill>
                <a:latin typeface="Helvetica"/>
              </a:rPr>
              <a:t>✓  Free + Pro 公測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611880"/>
            <a:ext cx="242316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0A1530"/>
                </a:solidFill>
                <a:latin typeface="Helvetica"/>
              </a:rPr>
              <a:t>✓  院友帳戶系統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251960"/>
            <a:ext cx="242316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0A1530"/>
                </a:solidFill>
                <a:latin typeface="Helvetica"/>
              </a:rPr>
              <a:t>✓  6 大認知報告 PDF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892039"/>
            <a:ext cx="242316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0A1530"/>
                </a:solidFill>
                <a:latin typeface="Helvetica"/>
              </a:rPr>
              <a:t>✓  8 → 12 款遊戲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10712" y="2057400"/>
            <a:ext cx="269748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D2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10712" y="2057400"/>
            <a:ext cx="2697480" cy="685800"/>
          </a:xfrm>
          <a:prstGeom prst="rect">
            <a:avLst/>
          </a:prstGeom>
          <a:solidFill>
            <a:srgbClr val="FFD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10712" y="2148840"/>
            <a:ext cx="2697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Helvetica"/>
              </a:rPr>
              <a:t>Q4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10712" y="2468880"/>
            <a:ext cx="26974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Helvetica"/>
              </a:rPr>
              <a:t>擴充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93592" y="2971800"/>
            <a:ext cx="242316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0A1530"/>
                </a:solidFill>
                <a:latin typeface="Helvetica"/>
              </a:rPr>
              <a:t>✓  推出 Plus 旗艦版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93592" y="3611880"/>
            <a:ext cx="242316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0A1530"/>
                </a:solidFill>
                <a:latin typeface="Helvetica"/>
              </a:rPr>
              <a:t>✓  多院舍 dashboard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93592" y="4251960"/>
            <a:ext cx="242316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0A1530"/>
                </a:solidFill>
                <a:latin typeface="Helvetica"/>
              </a:rPr>
              <a:t>✓  白標 + 跌倒風險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93592" y="4892039"/>
            <a:ext cx="242316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0A1530"/>
                </a:solidFill>
                <a:latin typeface="Helvetica"/>
              </a:rPr>
              <a:t>✓  16 款遊戲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72784" y="2057400"/>
            <a:ext cx="269748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CD0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72784" y="2057400"/>
            <a:ext cx="2697480" cy="685800"/>
          </a:xfrm>
          <a:prstGeom prst="rect">
            <a:avLst/>
          </a:prstGeom>
          <a:solidFill>
            <a:srgbClr val="3CD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72784" y="2148840"/>
            <a:ext cx="2697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Helvetica"/>
              </a:rPr>
              <a:t>Q1 2027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72784" y="2468880"/>
            <a:ext cx="26974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Helvetica"/>
              </a:rPr>
              <a:t>商業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55664" y="2971800"/>
            <a:ext cx="242316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0A1530"/>
                </a:solidFill>
                <a:latin typeface="Helvetica"/>
              </a:rPr>
              <a:t>✓  BLSAA 代辦服務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55664" y="3611880"/>
            <a:ext cx="242316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0A1530"/>
                </a:solidFill>
                <a:latin typeface="Helvetica"/>
              </a:rPr>
              <a:t>✓  集團案例 ×3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55664" y="4251960"/>
            <a:ext cx="242316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0A1530"/>
                </a:solidFill>
                <a:latin typeface="Helvetica"/>
              </a:rPr>
              <a:t>✓  API integration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55664" y="4892039"/>
            <a:ext cx="242316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0A1530"/>
                </a:solidFill>
                <a:latin typeface="Helvetica"/>
              </a:rPr>
              <a:t>✓  20 款遊戲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34856" y="2057400"/>
            <a:ext cx="269748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A1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134856" y="2057400"/>
            <a:ext cx="2697480" cy="685800"/>
          </a:xfrm>
          <a:prstGeom prst="rect">
            <a:avLst/>
          </a:prstGeom>
          <a:solidFill>
            <a:srgbClr val="0A1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34856" y="2148840"/>
            <a:ext cx="2697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Helvetica"/>
              </a:rPr>
              <a:t>Q2 2027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34856" y="2468880"/>
            <a:ext cx="26974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Helvetica"/>
              </a:rPr>
              <a:t>擴張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17736" y="2971800"/>
            <a:ext cx="242316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0A1530"/>
                </a:solidFill>
                <a:latin typeface="Helvetica"/>
              </a:rPr>
              <a:t>✓  進軍澳門/大灣區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17736" y="3611880"/>
            <a:ext cx="242316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0A1530"/>
                </a:solidFill>
                <a:latin typeface="Helvetica"/>
              </a:rPr>
              <a:t>✓  醫院 OT/Psych 部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17736" y="4251960"/>
            <a:ext cx="242316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0A1530"/>
                </a:solidFill>
                <a:latin typeface="Helvetica"/>
              </a:rPr>
              <a:t>✓  客製化遊戲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17736" y="4892039"/>
            <a:ext cx="242316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0A1530"/>
                </a:solidFill>
                <a:latin typeface="Helvetica"/>
              </a:rPr>
              <a:t>✓  24 款遊戲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F8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5760" y="6647688"/>
            <a:ext cx="731520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Helvetica"/>
              </a:rPr>
              <a:t>銀齡遊樂園 · Silver-Age Playground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6647688"/>
            <a:ext cx="137160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Helvetica"/>
              </a:rPr>
              <a:t>13 /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F8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EF8173"/>
                </a:solidFill>
                <a:latin typeface="Helvetica"/>
              </a:rPr>
              <a:t>12 · MARKET SIZE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00" b="1">
                <a:solidFill>
                  <a:srgbClr val="0A1530"/>
                </a:solidFill>
                <a:latin typeface="Helvetica"/>
              </a:rPr>
              <a:t>TAM 市場規模 (Hong Kong)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>
                <a:solidFill>
                  <a:srgbClr val="666666"/>
                </a:solidFill>
                <a:latin typeface="Helvetica"/>
              </a:rPr>
              <a:t>~HK$18.5M ARR locally. 3-5× with GBA + SEA.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2103120"/>
          <a:ext cx="1106424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1844040"/>
                <a:gridCol w="2766060"/>
                <a:gridCol w="2766060"/>
              </a:tblGrid>
              <a:tr h="574765"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Segment</a:t>
                      </a:r>
                    </a:p>
                  </a:txBody>
                  <a:tcPr marL="73152" marR="73152" marT="45720" marB="45720">
                    <a:solidFill>
                      <a:srgbClr val="0A1530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單位 Units</a:t>
                      </a:r>
                    </a:p>
                  </a:txBody>
                  <a:tcPr marL="73152" marR="73152" marT="45720" marB="45720">
                    <a:solidFill>
                      <a:srgbClr val="0A1530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年費 ARR/unit</a:t>
                      </a:r>
                    </a:p>
                  </a:txBody>
                  <a:tcPr marL="73152" marR="73152" marT="45720" marB="45720">
                    <a:solidFill>
                      <a:srgbClr val="0A1530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總 TAM Total</a:t>
                      </a:r>
                    </a:p>
                  </a:txBody>
                  <a:tcPr marL="73152" marR="73152" marT="45720" marB="45720">
                    <a:solidFill>
                      <a:srgbClr val="0A1530"/>
                    </a:solidFill>
                  </a:tcPr>
                </a:tc>
              </a:tr>
              <a:tr h="574765">
                <a:tc>
                  <a:txBody>
                    <a:bodyPr wrap="square" anchor="ctr"/>
                    <a:lstStyle/>
                    <a:p>
                      <a:r>
                        <a:rPr sz="1300" b="1">
                          <a:solidFill>
                            <a:srgbClr val="0A1530"/>
                          </a:solidFill>
                          <a:latin typeface="Helvetica"/>
                        </a:rPr>
                        <a:t>RCHE 院舍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300">
                          <a:solidFill>
                            <a:srgbClr val="0A1530"/>
                          </a:solidFill>
                          <a:latin typeface="Helvetica"/>
                        </a:rPr>
                        <a:t>~800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300">
                          <a:solidFill>
                            <a:srgbClr val="0A1530"/>
                          </a:solidFill>
                          <a:latin typeface="Helvetica"/>
                        </a:rPr>
                        <a:t>HKD $11,760 (Pro)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300">
                          <a:solidFill>
                            <a:srgbClr val="0A1530"/>
                          </a:solidFill>
                          <a:latin typeface="Helvetica"/>
                        </a:rPr>
                        <a:t>HKD $9.4M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574765">
                <a:tc>
                  <a:txBody>
                    <a:bodyPr wrap="square" anchor="ctr"/>
                    <a:lstStyle/>
                    <a:p>
                      <a:r>
                        <a:rPr sz="1300" b="1">
                          <a:solidFill>
                            <a:srgbClr val="0A1530"/>
                          </a:solidFill>
                          <a:latin typeface="Helvetica"/>
                        </a:rPr>
                        <a:t>DECC / NEC 長者中心</a:t>
                      </a:r>
                    </a:p>
                  </a:txBody>
                  <a:tcPr marL="73152" marR="73152" marT="45720" marB="45720">
                    <a:solidFill>
                      <a:srgbClr val="EEEEEE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300">
                          <a:solidFill>
                            <a:srgbClr val="0A1530"/>
                          </a:solidFill>
                          <a:latin typeface="Helvetica"/>
                        </a:rPr>
                        <a:t>~210</a:t>
                      </a:r>
                    </a:p>
                  </a:txBody>
                  <a:tcPr marL="73152" marR="73152" marT="45720" marB="45720">
                    <a:solidFill>
                      <a:srgbClr val="EEEEEE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300">
                          <a:solidFill>
                            <a:srgbClr val="0A1530"/>
                          </a:solidFill>
                          <a:latin typeface="Helvetica"/>
                        </a:rPr>
                        <a:t>HKD $11,760 (Pro)</a:t>
                      </a:r>
                    </a:p>
                  </a:txBody>
                  <a:tcPr marL="73152" marR="73152" marT="45720" marB="45720">
                    <a:solidFill>
                      <a:srgbClr val="EEEEEE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300">
                          <a:solidFill>
                            <a:srgbClr val="0A1530"/>
                          </a:solidFill>
                          <a:latin typeface="Helvetica"/>
                        </a:rPr>
                        <a:t>HKD $2.5M</a:t>
                      </a:r>
                    </a:p>
                  </a:txBody>
                  <a:tcPr marL="73152" marR="73152" marT="45720" marB="45720">
                    <a:solidFill>
                      <a:srgbClr val="EEEEEE"/>
                    </a:solidFill>
                  </a:tcPr>
                </a:tc>
              </a:tr>
              <a:tr h="574765">
                <a:tc>
                  <a:txBody>
                    <a:bodyPr wrap="square" anchor="ctr"/>
                    <a:lstStyle/>
                    <a:p>
                      <a:r>
                        <a:rPr sz="1300" b="1">
                          <a:solidFill>
                            <a:srgbClr val="0A1530"/>
                          </a:solidFill>
                          <a:latin typeface="Helvetica"/>
                        </a:rPr>
                        <a:t>醫院 OT / Psych 部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300">
                          <a:solidFill>
                            <a:srgbClr val="0A1530"/>
                          </a:solidFill>
                          <a:latin typeface="Helvetica"/>
                        </a:rPr>
                        <a:t>~43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300">
                          <a:solidFill>
                            <a:srgbClr val="0A1530"/>
                          </a:solidFill>
                          <a:latin typeface="Helvetica"/>
                        </a:rPr>
                        <a:t>HKD $28,800 (Plus)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300">
                          <a:solidFill>
                            <a:srgbClr val="0A1530"/>
                          </a:solidFill>
                          <a:latin typeface="Helvetica"/>
                        </a:rPr>
                        <a:t>HKD $1.2M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574765">
                <a:tc>
                  <a:txBody>
                    <a:bodyPr wrap="square" anchor="ctr"/>
                    <a:lstStyle/>
                    <a:p>
                      <a:r>
                        <a:rPr sz="1300" b="1">
                          <a:solidFill>
                            <a:srgbClr val="0A1530"/>
                          </a:solidFill>
                          <a:latin typeface="Helvetica"/>
                        </a:rPr>
                        <a:t>NGO 集團 (東華/保良/聖公會)</a:t>
                      </a:r>
                    </a:p>
                  </a:txBody>
                  <a:tcPr marL="73152" marR="73152" marT="45720" marB="45720">
                    <a:solidFill>
                      <a:srgbClr val="EEEEEE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300">
                          <a:solidFill>
                            <a:srgbClr val="0A1530"/>
                          </a:solidFill>
                          <a:latin typeface="Helvetica"/>
                        </a:rPr>
                        <a:t>~30</a:t>
                      </a:r>
                    </a:p>
                  </a:txBody>
                  <a:tcPr marL="73152" marR="73152" marT="45720" marB="45720">
                    <a:solidFill>
                      <a:srgbClr val="EEEEEE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300">
                          <a:solidFill>
                            <a:srgbClr val="0A1530"/>
                          </a:solidFill>
                          <a:latin typeface="Helvetica"/>
                        </a:rPr>
                        <a:t>HKD $180K (Enterprise)</a:t>
                      </a:r>
                    </a:p>
                  </a:txBody>
                  <a:tcPr marL="73152" marR="73152" marT="45720" marB="45720">
                    <a:solidFill>
                      <a:srgbClr val="EEEEEE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300">
                          <a:solidFill>
                            <a:srgbClr val="0A1530"/>
                          </a:solidFill>
                          <a:latin typeface="Helvetica"/>
                        </a:rPr>
                        <a:t>HKD $5.4M</a:t>
                      </a:r>
                    </a:p>
                  </a:txBody>
                  <a:tcPr marL="73152" marR="73152" marT="45720" marB="45720">
                    <a:solidFill>
                      <a:srgbClr val="EEEEEE"/>
                    </a:solidFill>
                  </a:tcPr>
                </a:tc>
              </a:tr>
              <a:tr h="574765">
                <a:tc>
                  <a:txBody>
                    <a:bodyPr wrap="square" anchor="ctr"/>
                    <a:lstStyle/>
                    <a:p>
                      <a:r>
                        <a:rPr sz="1300" b="1">
                          <a:solidFill>
                            <a:srgbClr val="0A1530"/>
                          </a:solidFill>
                          <a:latin typeface="Helvetica"/>
                        </a:rPr>
                        <a:t>HK Total ARR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300">
                          <a:solidFill>
                            <a:srgbClr val="0A1530"/>
                          </a:solidFill>
                          <a:latin typeface="Helvetica"/>
                        </a:rPr>
                        <a:t>~1,083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300">
                          <a:solidFill>
                            <a:srgbClr val="0A1530"/>
                          </a:solidFill>
                          <a:latin typeface="Helvetica"/>
                        </a:rPr>
                        <a:t>—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300">
                          <a:solidFill>
                            <a:srgbClr val="0A1530"/>
                          </a:solidFill>
                          <a:latin typeface="Helvetica"/>
                        </a:rPr>
                        <a:t>HKD $18.5M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574770">
                <a:tc>
                  <a:txBody>
                    <a:bodyPr wrap="square" anchor="ctr"/>
                    <a:lstStyle/>
                    <a:p>
                      <a:r>
                        <a:rPr sz="1300" b="1">
                          <a:solidFill>
                            <a:srgbClr val="0A1530"/>
                          </a:solidFill>
                          <a:latin typeface="Helvetica"/>
                        </a:rPr>
                        <a:t>+ Macau / GBA / SEA (3–5×)</a:t>
                      </a:r>
                    </a:p>
                  </a:txBody>
                  <a:tcPr marL="73152" marR="73152" marT="45720" marB="45720">
                    <a:solidFill>
                      <a:srgbClr val="EEEEEE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300">
                          <a:solidFill>
                            <a:srgbClr val="0A1530"/>
                          </a:solidFill>
                          <a:latin typeface="Helvetica"/>
                        </a:rPr>
                        <a:t>—</a:t>
                      </a:r>
                    </a:p>
                  </a:txBody>
                  <a:tcPr marL="73152" marR="73152" marT="45720" marB="45720">
                    <a:solidFill>
                      <a:srgbClr val="EEEEEE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300">
                          <a:solidFill>
                            <a:srgbClr val="0A1530"/>
                          </a:solidFill>
                          <a:latin typeface="Helvetica"/>
                        </a:rPr>
                        <a:t>—</a:t>
                      </a:r>
                    </a:p>
                  </a:txBody>
                  <a:tcPr marL="73152" marR="73152" marT="45720" marB="45720">
                    <a:solidFill>
                      <a:srgbClr val="EEEEEE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300">
                          <a:solidFill>
                            <a:srgbClr val="0A1530"/>
                          </a:solidFill>
                          <a:latin typeface="Helvetica"/>
                        </a:rPr>
                        <a:t>HKD $55–93M</a:t>
                      </a:r>
                    </a:p>
                  </a:txBody>
                  <a:tcPr marL="73152" marR="73152" marT="45720" marB="45720"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F8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647688"/>
            <a:ext cx="731520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Helvetica"/>
              </a:rPr>
              <a:t>銀齡遊樂園 · Silver-Age Playground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647688"/>
            <a:ext cx="137160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Helvetica"/>
              </a:rPr>
              <a:t>14 /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F8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EF8173"/>
                </a:solidFill>
                <a:latin typeface="Helvetica"/>
              </a:rPr>
              <a:t>13 · THE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00" b="1">
                <a:solidFill>
                  <a:srgbClr val="0A1530"/>
                </a:solidFill>
                <a:latin typeface="Helvetica"/>
              </a:rPr>
              <a:t>為什麼是我哋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5532120" cy="1280160"/>
          </a:xfrm>
          <a:prstGeom prst="roundRect">
            <a:avLst/>
          </a:prstGeom>
          <a:solidFill>
            <a:srgbClr val="FFF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31520" y="2331720"/>
            <a:ext cx="822960" cy="777240"/>
          </a:xfrm>
          <a:prstGeom prst="ellipse">
            <a:avLst/>
          </a:prstGeom>
          <a:solidFill>
            <a:srgbClr val="EF8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331720"/>
            <a:ext cx="82296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Helvetica"/>
              </a:rPr>
              <a:t>TECH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240280"/>
            <a:ext cx="429768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EF8173"/>
                </a:solidFill>
                <a:latin typeface="Helvetica"/>
              </a:rPr>
              <a:t>GOFA 核心技術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651760"/>
            <a:ext cx="429768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0A1530"/>
                </a:solidFill>
                <a:latin typeface="Helvetica"/>
              </a:rPr>
              <a:t>MediaPipe pose engine 已驗證於跌倒評估產品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2103120"/>
            <a:ext cx="5532120" cy="1280160"/>
          </a:xfrm>
          <a:prstGeom prst="roundRect">
            <a:avLst/>
          </a:prstGeom>
          <a:solidFill>
            <a:srgbClr val="FFF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2331720"/>
            <a:ext cx="822960" cy="777240"/>
          </a:xfrm>
          <a:prstGeom prst="ellipse">
            <a:avLst/>
          </a:prstGeom>
          <a:solidFill>
            <a:srgbClr val="EF8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2331720"/>
            <a:ext cx="82296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Helvetica"/>
              </a:rPr>
              <a:t>SAAS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0" y="2240280"/>
            <a:ext cx="429768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EF8173"/>
                </a:solidFill>
                <a:latin typeface="Helvetica"/>
              </a:rPr>
              <a:t>多租戶 SaaS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0" y="2651760"/>
            <a:ext cx="429768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0A1530"/>
                </a:solidFill>
                <a:latin typeface="Helvetica"/>
              </a:rPr>
              <a:t>一個 codebase 服務多個院舍，已 production-ready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566160"/>
            <a:ext cx="5532120" cy="1280160"/>
          </a:xfrm>
          <a:prstGeom prst="roundRect">
            <a:avLst/>
          </a:prstGeom>
          <a:solidFill>
            <a:srgbClr val="FFF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" y="3794760"/>
            <a:ext cx="822960" cy="777240"/>
          </a:xfrm>
          <a:prstGeom prst="ellipse">
            <a:avLst/>
          </a:prstGeom>
          <a:solidFill>
            <a:srgbClr val="EF8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794760"/>
            <a:ext cx="82296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Helvetica"/>
              </a:rPr>
              <a:t>NET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3703320"/>
            <a:ext cx="429768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EF8173"/>
                </a:solidFill>
                <a:latin typeface="Helvetica"/>
              </a:rPr>
              <a:t>HKSTP / 政府生態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4114800"/>
            <a:ext cx="429768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0A1530"/>
                </a:solidFill>
                <a:latin typeface="Helvetica"/>
              </a:rPr>
              <a:t>直通 BLSAA、JC ChariTech、SIE Fund 渠道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3566160"/>
            <a:ext cx="5532120" cy="1280160"/>
          </a:xfrm>
          <a:prstGeom prst="roundRect">
            <a:avLst/>
          </a:prstGeom>
          <a:solidFill>
            <a:srgbClr val="FFF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46520" y="3794760"/>
            <a:ext cx="822960" cy="777240"/>
          </a:xfrm>
          <a:prstGeom prst="ellipse">
            <a:avLst/>
          </a:prstGeom>
          <a:solidFill>
            <a:srgbClr val="EF8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3794760"/>
            <a:ext cx="82296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Helvetica"/>
              </a:rPr>
              <a:t>SPD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06640" y="3703320"/>
            <a:ext cx="429768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EF8173"/>
                </a:solidFill>
                <a:latin typeface="Helvetica"/>
              </a:rPr>
              <a:t>內容速度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06640" y="4114800"/>
            <a:ext cx="429768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0A1530"/>
                </a:solidFill>
                <a:latin typeface="Helvetica"/>
              </a:rPr>
              <a:t>已交付 8 款，每月加 2 款 (16 週發布 cadence)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029200"/>
            <a:ext cx="5532120" cy="1280160"/>
          </a:xfrm>
          <a:prstGeom prst="roundRect">
            <a:avLst/>
          </a:prstGeom>
          <a:solidFill>
            <a:srgbClr val="FFF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31520" y="5257800"/>
            <a:ext cx="822960" cy="777240"/>
          </a:xfrm>
          <a:prstGeom prst="ellipse">
            <a:avLst/>
          </a:prstGeom>
          <a:solidFill>
            <a:srgbClr val="EF8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5257800"/>
            <a:ext cx="82296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Helvetica"/>
              </a:rPr>
              <a:t>LIGHT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91640" y="5166360"/>
            <a:ext cx="429768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EF8173"/>
                </a:solidFill>
                <a:latin typeface="Helvetica"/>
              </a:rPr>
              <a:t>無硬件包袱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91640" y="5577840"/>
            <a:ext cx="429768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0A1530"/>
                </a:solidFill>
                <a:latin typeface="Helvetica"/>
              </a:rPr>
              <a:t>對手要養硬件供應鏈，我哋 100% software margin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63640" y="5029200"/>
            <a:ext cx="5532120" cy="1280160"/>
          </a:xfrm>
          <a:prstGeom prst="roundRect">
            <a:avLst/>
          </a:prstGeom>
          <a:solidFill>
            <a:srgbClr val="FFF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446520" y="5257800"/>
            <a:ext cx="822960" cy="777240"/>
          </a:xfrm>
          <a:prstGeom prst="ellipse">
            <a:avLst/>
          </a:prstGeom>
          <a:solidFill>
            <a:srgbClr val="EF8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46520" y="5257800"/>
            <a:ext cx="82296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Helvetica"/>
              </a:rPr>
              <a:t>BI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06640" y="5166360"/>
            <a:ext cx="429768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EF8173"/>
                </a:solidFill>
                <a:latin typeface="Helvetica"/>
              </a:rPr>
              <a:t>雙語團隊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06640" y="5577840"/>
            <a:ext cx="429768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0A1530"/>
                </a:solidFill>
                <a:latin typeface="Helvetica"/>
              </a:rPr>
              <a:t>本地長者文化 + 國際 best practice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F8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" y="6647688"/>
            <a:ext cx="731520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Helvetica"/>
              </a:rPr>
              <a:t>銀齡遊樂園 · Silver-Age Playground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0" y="6647688"/>
            <a:ext cx="137160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Helvetica"/>
              </a:rPr>
              <a:t>15 /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642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EF8173"/>
                </a:solidFill>
                <a:latin typeface="Helvetica"/>
              </a:rPr>
              <a:t>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Helvetica"/>
              </a:rPr>
              <a:t>即試 · 即傾 · 即簽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60320"/>
            <a:ext cx="110642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000" b="0">
                <a:solidFill>
                  <a:srgbClr val="FFD23F"/>
                </a:solidFill>
                <a:latin typeface="Helvetica"/>
              </a:rPr>
              <a:t>Try it · Talk to us · Sign up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474720"/>
            <a:ext cx="3520440" cy="2194560"/>
          </a:xfrm>
          <a:prstGeom prst="roundRect">
            <a:avLst/>
          </a:prstGeom>
          <a:solidFill>
            <a:srgbClr val="FFF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749040"/>
            <a:ext cx="35204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EF8173"/>
                </a:solidFill>
                <a:latin typeface="Helvetica"/>
              </a:rPr>
              <a:t>TRY 試玩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389120"/>
            <a:ext cx="35204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0A1530"/>
                </a:solidFill>
                <a:latin typeface="Helvetica"/>
              </a:rPr>
              <a:t>ar-game-arcade.vercel.app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029200"/>
            <a:ext cx="3520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666666"/>
                </a:solidFill>
                <a:latin typeface="Helvetica"/>
              </a:rPr>
              <a:t>免費 · 60 秒上手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3474720"/>
            <a:ext cx="3520440" cy="2194560"/>
          </a:xfrm>
          <a:prstGeom prst="roundRect">
            <a:avLst/>
          </a:prstGeom>
          <a:solidFill>
            <a:srgbClr val="FFF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3749040"/>
            <a:ext cx="35204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EF8173"/>
                </a:solidFill>
                <a:latin typeface="Helvetica"/>
              </a:rPr>
              <a:t>TALK 聯絡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4389120"/>
            <a:ext cx="35204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0A1530"/>
                </a:solidFill>
                <a:latin typeface="Helvetica"/>
              </a:rPr>
              <a:t>hello@gofa.co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5029200"/>
            <a:ext cx="3520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666666"/>
                </a:solidFill>
                <a:latin typeface="Helvetica"/>
              </a:rPr>
              <a:t>WhatsApp / Email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3474720"/>
            <a:ext cx="3520440" cy="2194560"/>
          </a:xfrm>
          <a:prstGeom prst="roundRect">
            <a:avLst/>
          </a:prstGeom>
          <a:solidFill>
            <a:srgbClr val="FFF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3749040"/>
            <a:ext cx="35204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EF8173"/>
                </a:solidFill>
                <a:latin typeface="Helvetica"/>
              </a:rPr>
              <a:t>DEMO 安排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4389120"/>
            <a:ext cx="35204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0A1530"/>
                </a:solidFill>
                <a:latin typeface="Helvetica"/>
              </a:rPr>
              <a:t>30 min Zoom or on-site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5029200"/>
            <a:ext cx="3520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666666"/>
                </a:solidFill>
                <a:latin typeface="Helvetica"/>
              </a:rPr>
              <a:t>Pro / Plus / 集團方案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126480"/>
            <a:ext cx="110642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FFD23F"/>
                </a:solidFill>
                <a:latin typeface="Helvetica"/>
              </a:rPr>
              <a:t>銀齡遊樂園 — 讓長者再次玩起來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